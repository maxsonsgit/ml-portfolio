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9"/>
  </p:notesMasterIdLst>
  <p:sldIdLst>
    <p:sldId id="280" r:id="rId2"/>
    <p:sldId id="327" r:id="rId3"/>
    <p:sldId id="284" r:id="rId4"/>
    <p:sldId id="322" r:id="rId5"/>
    <p:sldId id="323" r:id="rId6"/>
    <p:sldId id="328" r:id="rId7"/>
    <p:sldId id="310" r:id="rId8"/>
    <p:sldId id="317" r:id="rId9"/>
    <p:sldId id="311" r:id="rId10"/>
    <p:sldId id="312" r:id="rId11"/>
    <p:sldId id="313" r:id="rId12"/>
    <p:sldId id="314" r:id="rId13"/>
    <p:sldId id="318" r:id="rId14"/>
    <p:sldId id="319" r:id="rId15"/>
    <p:sldId id="320" r:id="rId16"/>
    <p:sldId id="324" r:id="rId17"/>
    <p:sldId id="329" r:id="rId18"/>
    <p:sldId id="330" r:id="rId19"/>
    <p:sldId id="332" r:id="rId20"/>
    <p:sldId id="338" r:id="rId21"/>
    <p:sldId id="333" r:id="rId22"/>
    <p:sldId id="334" r:id="rId23"/>
    <p:sldId id="335" r:id="rId24"/>
    <p:sldId id="339" r:id="rId25"/>
    <p:sldId id="336" r:id="rId26"/>
    <p:sldId id="337" r:id="rId27"/>
    <p:sldId id="278" r:id="rId28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F2B2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7AC3CCA-C797-4891-BE02-D94E43425B78}" styleName="Средний стиль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99" autoAdjust="0"/>
    <p:restoredTop sz="94660"/>
  </p:normalViewPr>
  <p:slideViewPr>
    <p:cSldViewPr>
      <p:cViewPr varScale="1">
        <p:scale>
          <a:sx n="81" d="100"/>
          <a:sy n="81" d="100"/>
        </p:scale>
        <p:origin x="1522" y="5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2_1">
  <dgm:title val=""/>
  <dgm:desc val=""/>
  <dgm:catLst>
    <dgm:cat type="accent2" pri="11100"/>
  </dgm:catLst>
  <dgm:styleLbl name="node0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2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2">
        <a:alpha val="4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78FA4A7-F42F-4CFD-9C79-2BC15553C04D}" type="doc">
      <dgm:prSet loTypeId="urn:microsoft.com/office/officeart/2005/8/layout/process4" loCatId="process" qsTypeId="urn:microsoft.com/office/officeart/2005/8/quickstyle/simple1" qsCatId="simple" csTypeId="urn:microsoft.com/office/officeart/2005/8/colors/accent2_1" csCatId="accent2" phldr="1"/>
      <dgm:spPr/>
    </dgm:pt>
    <dgm:pt modelId="{FFE854EA-8A38-499A-B3BF-E9D82AF559F8}">
      <dgm:prSet phldrT="[Текст]" custT="1"/>
      <dgm:spPr/>
      <dgm:t>
        <a:bodyPr/>
        <a:lstStyle/>
        <a:p>
          <a:r>
            <a:rPr lang="ru-RU" sz="2000" u="sng" dirty="0"/>
            <a:t>Разделение «по людям»</a:t>
          </a:r>
          <a:r>
            <a:rPr lang="ru-RU" sz="2000" u="none" dirty="0"/>
            <a:t> </a:t>
          </a:r>
          <a:r>
            <a:rPr lang="ru-RU" sz="2000" dirty="0"/>
            <a:t>(80% первых людей в </a:t>
          </a:r>
          <a:r>
            <a:rPr lang="en-US" sz="2000" dirty="0"/>
            <a:t>train</a:t>
          </a:r>
          <a:r>
            <a:rPr lang="ru-RU" sz="2000" dirty="0"/>
            <a:t>, остальные в </a:t>
          </a:r>
          <a:r>
            <a:rPr lang="en-US" sz="2000" dirty="0"/>
            <a:t>test</a:t>
          </a:r>
          <a:r>
            <a:rPr lang="ru-RU" sz="2000" dirty="0"/>
            <a:t>). </a:t>
          </a:r>
          <a:r>
            <a:rPr lang="ru-RU" sz="2000" u="sng" dirty="0"/>
            <a:t>Минусы</a:t>
          </a:r>
          <a:r>
            <a:rPr lang="ru-RU" sz="2000" dirty="0"/>
            <a:t>: не представлены все классы активностей</a:t>
          </a:r>
        </a:p>
      </dgm:t>
    </dgm:pt>
    <dgm:pt modelId="{54B5AF08-B8ED-4872-A36F-30A4AB4A12C9}" type="parTrans" cxnId="{70304E6C-6530-4244-B4D9-6BABEC071DB3}">
      <dgm:prSet/>
      <dgm:spPr/>
      <dgm:t>
        <a:bodyPr/>
        <a:lstStyle/>
        <a:p>
          <a:endParaRPr lang="ru-RU"/>
        </a:p>
      </dgm:t>
    </dgm:pt>
    <dgm:pt modelId="{5815A60A-073B-4E18-8C11-C3AE735F5B17}" type="sibTrans" cxnId="{70304E6C-6530-4244-B4D9-6BABEC071DB3}">
      <dgm:prSet/>
      <dgm:spPr/>
      <dgm:t>
        <a:bodyPr/>
        <a:lstStyle/>
        <a:p>
          <a:endParaRPr lang="ru-RU"/>
        </a:p>
      </dgm:t>
    </dgm:pt>
    <dgm:pt modelId="{F1328532-A2DB-4E25-980F-BA9EED712EC9}">
      <dgm:prSet phldrT="[Текст]" custT="1"/>
      <dgm:spPr/>
      <dgm:t>
        <a:bodyPr/>
        <a:lstStyle/>
        <a:p>
          <a:r>
            <a:rPr lang="ru-RU" sz="2000" dirty="0"/>
            <a:t> </a:t>
          </a:r>
          <a:r>
            <a:rPr lang="ru-RU" sz="2000" u="sng" dirty="0"/>
            <a:t>Разделение «по активностям»</a:t>
          </a:r>
          <a:r>
            <a:rPr lang="ru-RU" sz="2000" u="none" dirty="0"/>
            <a:t> </a:t>
          </a:r>
          <a:r>
            <a:rPr lang="ru-RU" sz="2000" dirty="0"/>
            <a:t>(датасет </a:t>
          </a:r>
          <a:r>
            <a:rPr lang="ru-RU" sz="2000" u="sng" dirty="0"/>
            <a:t>сортируется</a:t>
          </a:r>
          <a:r>
            <a:rPr lang="ru-RU" sz="2000" dirty="0"/>
            <a:t> по активностям, а затем 80% каждой – идет в </a:t>
          </a:r>
          <a:r>
            <a:rPr lang="en-US" sz="2000" dirty="0"/>
            <a:t>train</a:t>
          </a:r>
          <a:r>
            <a:rPr lang="ru-RU" sz="2000" dirty="0"/>
            <a:t>). </a:t>
          </a:r>
          <a:r>
            <a:rPr lang="ru-RU" sz="2000" u="sng" dirty="0"/>
            <a:t>Минусы</a:t>
          </a:r>
          <a:r>
            <a:rPr lang="ru-RU" sz="2000" dirty="0"/>
            <a:t>: потеря временного контекста </a:t>
          </a:r>
        </a:p>
      </dgm:t>
    </dgm:pt>
    <dgm:pt modelId="{9F8651B2-9267-44C3-888C-B0BA1B6281A2}" type="parTrans" cxnId="{218B69FB-9F4E-4BB8-9567-4101F756C600}">
      <dgm:prSet/>
      <dgm:spPr/>
      <dgm:t>
        <a:bodyPr/>
        <a:lstStyle/>
        <a:p>
          <a:endParaRPr lang="ru-RU"/>
        </a:p>
      </dgm:t>
    </dgm:pt>
    <dgm:pt modelId="{84EC7CC8-C119-46E3-924F-6F7B778589AC}" type="sibTrans" cxnId="{218B69FB-9F4E-4BB8-9567-4101F756C600}">
      <dgm:prSet/>
      <dgm:spPr/>
      <dgm:t>
        <a:bodyPr/>
        <a:lstStyle/>
        <a:p>
          <a:endParaRPr lang="ru-RU"/>
        </a:p>
      </dgm:t>
    </dgm:pt>
    <dgm:pt modelId="{06609C3B-31C8-48BE-984E-71047134ED25}">
      <dgm:prSet phldrT="[Текст]" custT="1"/>
      <dgm:spPr/>
      <dgm:t>
        <a:bodyPr/>
        <a:lstStyle/>
        <a:p>
          <a:r>
            <a:rPr lang="ru-RU" sz="2000" u="sng" dirty="0"/>
            <a:t>Сортировка по людям и времени</a:t>
          </a:r>
          <a:r>
            <a:rPr lang="ru-RU" sz="2000" dirty="0"/>
            <a:t>, выбор первых 80% для каждого в </a:t>
          </a:r>
          <a:r>
            <a:rPr lang="en-US" sz="2000" dirty="0"/>
            <a:t>train </a:t>
          </a:r>
          <a:r>
            <a:rPr lang="ru-RU" sz="2000" u="sng" dirty="0"/>
            <a:t>и донабор</a:t>
          </a:r>
          <a:r>
            <a:rPr lang="ru-RU" sz="2000" dirty="0"/>
            <a:t> недостающих активностей. </a:t>
          </a:r>
          <a:r>
            <a:rPr lang="ru-RU" sz="2000" u="sng" dirty="0"/>
            <a:t>Минусы</a:t>
          </a:r>
          <a:r>
            <a:rPr lang="ru-RU" sz="2000" dirty="0"/>
            <a:t>: создание дубликатов</a:t>
          </a:r>
        </a:p>
      </dgm:t>
    </dgm:pt>
    <dgm:pt modelId="{2E4F5400-57C9-42F1-B9D3-DC6472951CE9}" type="parTrans" cxnId="{A9F86148-52C5-437F-A09B-52A5790241BA}">
      <dgm:prSet/>
      <dgm:spPr/>
      <dgm:t>
        <a:bodyPr/>
        <a:lstStyle/>
        <a:p>
          <a:endParaRPr lang="ru-RU"/>
        </a:p>
      </dgm:t>
    </dgm:pt>
    <dgm:pt modelId="{7711D0F9-5028-4019-BF3D-1FB37C01FBDB}" type="sibTrans" cxnId="{A9F86148-52C5-437F-A09B-52A5790241BA}">
      <dgm:prSet/>
      <dgm:spPr/>
      <dgm:t>
        <a:bodyPr/>
        <a:lstStyle/>
        <a:p>
          <a:endParaRPr lang="ru-RU"/>
        </a:p>
      </dgm:t>
    </dgm:pt>
    <dgm:pt modelId="{627BE7C3-AA6B-451D-927D-1BEF71204521}">
      <dgm:prSet phldrT="[Текст]" custT="1"/>
      <dgm:spPr/>
      <dgm:t>
        <a:bodyPr/>
        <a:lstStyle/>
        <a:p>
          <a:r>
            <a:rPr lang="ru-RU" sz="2000" dirty="0"/>
            <a:t>Склеивание датасетов по отдельным </a:t>
          </a:r>
          <a:r>
            <a:rPr lang="en-US" sz="2000" dirty="0"/>
            <a:t>subject.</a:t>
          </a:r>
          <a:r>
            <a:rPr lang="ru-RU" sz="2000" dirty="0"/>
            <a:t> </a:t>
          </a:r>
          <a:r>
            <a:rPr lang="ru-RU" sz="2000" u="sng" dirty="0"/>
            <a:t>Выделение последовательностей одинаковых меток</a:t>
          </a:r>
          <a:r>
            <a:rPr lang="ru-RU" sz="2000" dirty="0"/>
            <a:t> активности: первые 80% попадают в </a:t>
          </a:r>
          <a:r>
            <a:rPr lang="en-US" sz="2000" dirty="0"/>
            <a:t>train, </a:t>
          </a:r>
          <a:r>
            <a:rPr lang="ru-RU" sz="2000" dirty="0"/>
            <a:t>последние 20%</a:t>
          </a:r>
          <a:r>
            <a:rPr lang="en-US" sz="2000" dirty="0"/>
            <a:t> - </a:t>
          </a:r>
          <a:r>
            <a:rPr lang="ru-RU" sz="2000" dirty="0"/>
            <a:t>в </a:t>
          </a:r>
          <a:r>
            <a:rPr lang="en-US" sz="2000" dirty="0"/>
            <a:t>test.</a:t>
          </a:r>
          <a:endParaRPr lang="ru-RU" sz="2000" dirty="0"/>
        </a:p>
      </dgm:t>
    </dgm:pt>
    <dgm:pt modelId="{B7A85154-3E63-48E2-9CA7-3F15363FE211}" type="parTrans" cxnId="{D20D5471-E4CA-4171-9F72-1D381C812B47}">
      <dgm:prSet/>
      <dgm:spPr/>
      <dgm:t>
        <a:bodyPr/>
        <a:lstStyle/>
        <a:p>
          <a:endParaRPr lang="ru-RU"/>
        </a:p>
      </dgm:t>
    </dgm:pt>
    <dgm:pt modelId="{36860FFF-CB25-40BF-BF0D-B439151D1DD9}" type="sibTrans" cxnId="{D20D5471-E4CA-4171-9F72-1D381C812B47}">
      <dgm:prSet/>
      <dgm:spPr/>
      <dgm:t>
        <a:bodyPr/>
        <a:lstStyle/>
        <a:p>
          <a:endParaRPr lang="ru-RU"/>
        </a:p>
      </dgm:t>
    </dgm:pt>
    <dgm:pt modelId="{A394E481-6277-4EBA-88FD-0F75CB760417}" type="pres">
      <dgm:prSet presAssocID="{C78FA4A7-F42F-4CFD-9C79-2BC15553C04D}" presName="Name0" presStyleCnt="0">
        <dgm:presLayoutVars>
          <dgm:dir/>
          <dgm:animLvl val="lvl"/>
          <dgm:resizeHandles val="exact"/>
        </dgm:presLayoutVars>
      </dgm:prSet>
      <dgm:spPr/>
    </dgm:pt>
    <dgm:pt modelId="{449BE169-3887-4DDC-968E-C2B47BCEB46C}" type="pres">
      <dgm:prSet presAssocID="{627BE7C3-AA6B-451D-927D-1BEF71204521}" presName="boxAndChildren" presStyleCnt="0"/>
      <dgm:spPr/>
    </dgm:pt>
    <dgm:pt modelId="{9FC65B46-2B54-440B-BD41-2D4F449E6DA7}" type="pres">
      <dgm:prSet presAssocID="{627BE7C3-AA6B-451D-927D-1BEF71204521}" presName="parentTextBox" presStyleLbl="node1" presStyleIdx="0" presStyleCnt="4"/>
      <dgm:spPr/>
    </dgm:pt>
    <dgm:pt modelId="{69815B60-7F4E-447F-AAEE-ED2B701518B2}" type="pres">
      <dgm:prSet presAssocID="{7711D0F9-5028-4019-BF3D-1FB37C01FBDB}" presName="sp" presStyleCnt="0"/>
      <dgm:spPr/>
    </dgm:pt>
    <dgm:pt modelId="{25EAFC88-4D25-42E0-A85D-4F59D375621E}" type="pres">
      <dgm:prSet presAssocID="{06609C3B-31C8-48BE-984E-71047134ED25}" presName="arrowAndChildren" presStyleCnt="0"/>
      <dgm:spPr/>
    </dgm:pt>
    <dgm:pt modelId="{D6A931B4-4480-481D-B2A6-4F6C6245B1CD}" type="pres">
      <dgm:prSet presAssocID="{06609C3B-31C8-48BE-984E-71047134ED25}" presName="parentTextArrow" presStyleLbl="node1" presStyleIdx="1" presStyleCnt="4"/>
      <dgm:spPr/>
    </dgm:pt>
    <dgm:pt modelId="{F4348886-36E7-48B1-9C09-19C2AA951489}" type="pres">
      <dgm:prSet presAssocID="{84EC7CC8-C119-46E3-924F-6F7B778589AC}" presName="sp" presStyleCnt="0"/>
      <dgm:spPr/>
    </dgm:pt>
    <dgm:pt modelId="{14ED7B50-F3FE-4B7A-B8C6-1EFC263A3273}" type="pres">
      <dgm:prSet presAssocID="{F1328532-A2DB-4E25-980F-BA9EED712EC9}" presName="arrowAndChildren" presStyleCnt="0"/>
      <dgm:spPr/>
    </dgm:pt>
    <dgm:pt modelId="{4AD0B8F1-FEE1-4458-93DC-BFDF177E5B21}" type="pres">
      <dgm:prSet presAssocID="{F1328532-A2DB-4E25-980F-BA9EED712EC9}" presName="parentTextArrow" presStyleLbl="node1" presStyleIdx="2" presStyleCnt="4"/>
      <dgm:spPr/>
    </dgm:pt>
    <dgm:pt modelId="{21C34F8E-3135-4D07-BC30-B7A517226ADD}" type="pres">
      <dgm:prSet presAssocID="{5815A60A-073B-4E18-8C11-C3AE735F5B17}" presName="sp" presStyleCnt="0"/>
      <dgm:spPr/>
    </dgm:pt>
    <dgm:pt modelId="{197CFDC3-B7C0-4962-BB2D-83E4C7EAB6BE}" type="pres">
      <dgm:prSet presAssocID="{FFE854EA-8A38-499A-B3BF-E9D82AF559F8}" presName="arrowAndChildren" presStyleCnt="0"/>
      <dgm:spPr/>
    </dgm:pt>
    <dgm:pt modelId="{C6731D1D-1195-4536-B54B-8BD4201FE701}" type="pres">
      <dgm:prSet presAssocID="{FFE854EA-8A38-499A-B3BF-E9D82AF559F8}" presName="parentTextArrow" presStyleLbl="node1" presStyleIdx="3" presStyleCnt="4"/>
      <dgm:spPr/>
    </dgm:pt>
  </dgm:ptLst>
  <dgm:cxnLst>
    <dgm:cxn modelId="{580A5912-5EE7-427F-B5EF-7EC837B6CC57}" type="presOf" srcId="{627BE7C3-AA6B-451D-927D-1BEF71204521}" destId="{9FC65B46-2B54-440B-BD41-2D4F449E6DA7}" srcOrd="0" destOrd="0" presId="urn:microsoft.com/office/officeart/2005/8/layout/process4"/>
    <dgm:cxn modelId="{380B9B43-F8B5-4871-A5F4-ED98552AA034}" type="presOf" srcId="{C78FA4A7-F42F-4CFD-9C79-2BC15553C04D}" destId="{A394E481-6277-4EBA-88FD-0F75CB760417}" srcOrd="0" destOrd="0" presId="urn:microsoft.com/office/officeart/2005/8/layout/process4"/>
    <dgm:cxn modelId="{16DCF545-1141-44D5-B1C2-8036DDD370C3}" type="presOf" srcId="{06609C3B-31C8-48BE-984E-71047134ED25}" destId="{D6A931B4-4480-481D-B2A6-4F6C6245B1CD}" srcOrd="0" destOrd="0" presId="urn:microsoft.com/office/officeart/2005/8/layout/process4"/>
    <dgm:cxn modelId="{A9F86148-52C5-437F-A09B-52A5790241BA}" srcId="{C78FA4A7-F42F-4CFD-9C79-2BC15553C04D}" destId="{06609C3B-31C8-48BE-984E-71047134ED25}" srcOrd="2" destOrd="0" parTransId="{2E4F5400-57C9-42F1-B9D3-DC6472951CE9}" sibTransId="{7711D0F9-5028-4019-BF3D-1FB37C01FBDB}"/>
    <dgm:cxn modelId="{70304E6C-6530-4244-B4D9-6BABEC071DB3}" srcId="{C78FA4A7-F42F-4CFD-9C79-2BC15553C04D}" destId="{FFE854EA-8A38-499A-B3BF-E9D82AF559F8}" srcOrd="0" destOrd="0" parTransId="{54B5AF08-B8ED-4872-A36F-30A4AB4A12C9}" sibTransId="{5815A60A-073B-4E18-8C11-C3AE735F5B17}"/>
    <dgm:cxn modelId="{D20D5471-E4CA-4171-9F72-1D381C812B47}" srcId="{C78FA4A7-F42F-4CFD-9C79-2BC15553C04D}" destId="{627BE7C3-AA6B-451D-927D-1BEF71204521}" srcOrd="3" destOrd="0" parTransId="{B7A85154-3E63-48E2-9CA7-3F15363FE211}" sibTransId="{36860FFF-CB25-40BF-BF0D-B439151D1DD9}"/>
    <dgm:cxn modelId="{AAE10C7C-17D1-46F0-B0C8-8DE64F733835}" type="presOf" srcId="{FFE854EA-8A38-499A-B3BF-E9D82AF559F8}" destId="{C6731D1D-1195-4536-B54B-8BD4201FE701}" srcOrd="0" destOrd="0" presId="urn:microsoft.com/office/officeart/2005/8/layout/process4"/>
    <dgm:cxn modelId="{DDC7B77C-BC09-462A-BF8E-C3FA1B8BA123}" type="presOf" srcId="{F1328532-A2DB-4E25-980F-BA9EED712EC9}" destId="{4AD0B8F1-FEE1-4458-93DC-BFDF177E5B21}" srcOrd="0" destOrd="0" presId="urn:microsoft.com/office/officeart/2005/8/layout/process4"/>
    <dgm:cxn modelId="{218B69FB-9F4E-4BB8-9567-4101F756C600}" srcId="{C78FA4A7-F42F-4CFD-9C79-2BC15553C04D}" destId="{F1328532-A2DB-4E25-980F-BA9EED712EC9}" srcOrd="1" destOrd="0" parTransId="{9F8651B2-9267-44C3-888C-B0BA1B6281A2}" sibTransId="{84EC7CC8-C119-46E3-924F-6F7B778589AC}"/>
    <dgm:cxn modelId="{E9DF92C6-631F-4281-B7A6-1482A4D23E37}" type="presParOf" srcId="{A394E481-6277-4EBA-88FD-0F75CB760417}" destId="{449BE169-3887-4DDC-968E-C2B47BCEB46C}" srcOrd="0" destOrd="0" presId="urn:microsoft.com/office/officeart/2005/8/layout/process4"/>
    <dgm:cxn modelId="{06F5099D-A6E8-406C-9D0D-90A597D72276}" type="presParOf" srcId="{449BE169-3887-4DDC-968E-C2B47BCEB46C}" destId="{9FC65B46-2B54-440B-BD41-2D4F449E6DA7}" srcOrd="0" destOrd="0" presId="urn:microsoft.com/office/officeart/2005/8/layout/process4"/>
    <dgm:cxn modelId="{B4339371-F1E6-4CD0-86AE-4C70FFD9A6CE}" type="presParOf" srcId="{A394E481-6277-4EBA-88FD-0F75CB760417}" destId="{69815B60-7F4E-447F-AAEE-ED2B701518B2}" srcOrd="1" destOrd="0" presId="urn:microsoft.com/office/officeart/2005/8/layout/process4"/>
    <dgm:cxn modelId="{ABF316F3-7CAB-4419-8FAB-9AF859E95432}" type="presParOf" srcId="{A394E481-6277-4EBA-88FD-0F75CB760417}" destId="{25EAFC88-4D25-42E0-A85D-4F59D375621E}" srcOrd="2" destOrd="0" presId="urn:microsoft.com/office/officeart/2005/8/layout/process4"/>
    <dgm:cxn modelId="{8BAEE6E8-62E5-40AE-9AED-703908112CBA}" type="presParOf" srcId="{25EAFC88-4D25-42E0-A85D-4F59D375621E}" destId="{D6A931B4-4480-481D-B2A6-4F6C6245B1CD}" srcOrd="0" destOrd="0" presId="urn:microsoft.com/office/officeart/2005/8/layout/process4"/>
    <dgm:cxn modelId="{7C8A0143-658F-455F-AB9C-85E459FC0E61}" type="presParOf" srcId="{A394E481-6277-4EBA-88FD-0F75CB760417}" destId="{F4348886-36E7-48B1-9C09-19C2AA951489}" srcOrd="3" destOrd="0" presId="urn:microsoft.com/office/officeart/2005/8/layout/process4"/>
    <dgm:cxn modelId="{60FAD16C-D387-4A79-B3A9-3049F0B57360}" type="presParOf" srcId="{A394E481-6277-4EBA-88FD-0F75CB760417}" destId="{14ED7B50-F3FE-4B7A-B8C6-1EFC263A3273}" srcOrd="4" destOrd="0" presId="urn:microsoft.com/office/officeart/2005/8/layout/process4"/>
    <dgm:cxn modelId="{30E484B9-0523-412E-AF5F-0CCAEFD26153}" type="presParOf" srcId="{14ED7B50-F3FE-4B7A-B8C6-1EFC263A3273}" destId="{4AD0B8F1-FEE1-4458-93DC-BFDF177E5B21}" srcOrd="0" destOrd="0" presId="urn:microsoft.com/office/officeart/2005/8/layout/process4"/>
    <dgm:cxn modelId="{C726D071-21CA-4B55-A474-EBA4D7AD8A4C}" type="presParOf" srcId="{A394E481-6277-4EBA-88FD-0F75CB760417}" destId="{21C34F8E-3135-4D07-BC30-B7A517226ADD}" srcOrd="5" destOrd="0" presId="urn:microsoft.com/office/officeart/2005/8/layout/process4"/>
    <dgm:cxn modelId="{3AB29631-2947-42DF-A482-83ADB4FC5B06}" type="presParOf" srcId="{A394E481-6277-4EBA-88FD-0F75CB760417}" destId="{197CFDC3-B7C0-4962-BB2D-83E4C7EAB6BE}" srcOrd="6" destOrd="0" presId="urn:microsoft.com/office/officeart/2005/8/layout/process4"/>
    <dgm:cxn modelId="{B69D0F2D-16F3-41A3-91DA-622845AF6FA3}" type="presParOf" srcId="{197CFDC3-B7C0-4962-BB2D-83E4C7EAB6BE}" destId="{C6731D1D-1195-4536-B54B-8BD4201FE701}" srcOrd="0" destOrd="0" presId="urn:microsoft.com/office/officeart/2005/8/layout/process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FC65B46-2B54-440B-BD41-2D4F449E6DA7}">
      <dsp:nvSpPr>
        <dsp:cNvPr id="0" name=""/>
        <dsp:cNvSpPr/>
      </dsp:nvSpPr>
      <dsp:spPr>
        <a:xfrm>
          <a:off x="0" y="4143739"/>
          <a:ext cx="8237512" cy="906548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2240" tIns="142240" rIns="142240" bIns="14224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000" kern="1200" dirty="0"/>
            <a:t>Склеивание датасетов по отдельным </a:t>
          </a:r>
          <a:r>
            <a:rPr lang="en-US" sz="2000" kern="1200" dirty="0"/>
            <a:t>subject.</a:t>
          </a:r>
          <a:r>
            <a:rPr lang="ru-RU" sz="2000" kern="1200" dirty="0"/>
            <a:t> </a:t>
          </a:r>
          <a:r>
            <a:rPr lang="ru-RU" sz="2000" u="sng" kern="1200" dirty="0"/>
            <a:t>Выделение последовательностей одинаковых меток</a:t>
          </a:r>
          <a:r>
            <a:rPr lang="ru-RU" sz="2000" kern="1200" dirty="0"/>
            <a:t> активности: первые 80% попадают в </a:t>
          </a:r>
          <a:r>
            <a:rPr lang="en-US" sz="2000" kern="1200" dirty="0"/>
            <a:t>train, </a:t>
          </a:r>
          <a:r>
            <a:rPr lang="ru-RU" sz="2000" kern="1200" dirty="0"/>
            <a:t>последние 20%</a:t>
          </a:r>
          <a:r>
            <a:rPr lang="en-US" sz="2000" kern="1200" dirty="0"/>
            <a:t> - </a:t>
          </a:r>
          <a:r>
            <a:rPr lang="ru-RU" sz="2000" kern="1200" dirty="0"/>
            <a:t>в </a:t>
          </a:r>
          <a:r>
            <a:rPr lang="en-US" sz="2000" kern="1200" dirty="0"/>
            <a:t>test.</a:t>
          </a:r>
          <a:endParaRPr lang="ru-RU" sz="2000" kern="1200" dirty="0"/>
        </a:p>
      </dsp:txBody>
      <dsp:txXfrm>
        <a:off x="0" y="4143739"/>
        <a:ext cx="8237512" cy="906548"/>
      </dsp:txXfrm>
    </dsp:sp>
    <dsp:sp modelId="{D6A931B4-4480-481D-B2A6-4F6C6245B1CD}">
      <dsp:nvSpPr>
        <dsp:cNvPr id="0" name=""/>
        <dsp:cNvSpPr/>
      </dsp:nvSpPr>
      <dsp:spPr>
        <a:xfrm rot="10800000">
          <a:off x="0" y="2763065"/>
          <a:ext cx="8237512" cy="1394272"/>
        </a:xfrm>
        <a:prstGeom prst="upArrowCallou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2240" tIns="142240" rIns="142240" bIns="14224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000" u="sng" kern="1200" dirty="0"/>
            <a:t>Сортировка по людям и времени</a:t>
          </a:r>
          <a:r>
            <a:rPr lang="ru-RU" sz="2000" kern="1200" dirty="0"/>
            <a:t>, выбор первых 80% для каждого в </a:t>
          </a:r>
          <a:r>
            <a:rPr lang="en-US" sz="2000" kern="1200" dirty="0"/>
            <a:t>train </a:t>
          </a:r>
          <a:r>
            <a:rPr lang="ru-RU" sz="2000" u="sng" kern="1200" dirty="0"/>
            <a:t>и донабор</a:t>
          </a:r>
          <a:r>
            <a:rPr lang="ru-RU" sz="2000" kern="1200" dirty="0"/>
            <a:t> недостающих активностей. </a:t>
          </a:r>
          <a:r>
            <a:rPr lang="ru-RU" sz="2000" u="sng" kern="1200" dirty="0"/>
            <a:t>Минусы</a:t>
          </a:r>
          <a:r>
            <a:rPr lang="ru-RU" sz="2000" kern="1200" dirty="0"/>
            <a:t>: создание дубликатов</a:t>
          </a:r>
        </a:p>
      </dsp:txBody>
      <dsp:txXfrm rot="10800000">
        <a:off x="0" y="2763065"/>
        <a:ext cx="8237512" cy="905956"/>
      </dsp:txXfrm>
    </dsp:sp>
    <dsp:sp modelId="{4AD0B8F1-FEE1-4458-93DC-BFDF177E5B21}">
      <dsp:nvSpPr>
        <dsp:cNvPr id="0" name=""/>
        <dsp:cNvSpPr/>
      </dsp:nvSpPr>
      <dsp:spPr>
        <a:xfrm rot="10800000">
          <a:off x="0" y="1382391"/>
          <a:ext cx="8237512" cy="1394272"/>
        </a:xfrm>
        <a:prstGeom prst="upArrowCallou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2240" tIns="142240" rIns="142240" bIns="14224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000" kern="1200" dirty="0"/>
            <a:t> </a:t>
          </a:r>
          <a:r>
            <a:rPr lang="ru-RU" sz="2000" u="sng" kern="1200" dirty="0"/>
            <a:t>Разделение «по активностям»</a:t>
          </a:r>
          <a:r>
            <a:rPr lang="ru-RU" sz="2000" u="none" kern="1200" dirty="0"/>
            <a:t> </a:t>
          </a:r>
          <a:r>
            <a:rPr lang="ru-RU" sz="2000" kern="1200" dirty="0"/>
            <a:t>(датасет </a:t>
          </a:r>
          <a:r>
            <a:rPr lang="ru-RU" sz="2000" u="sng" kern="1200" dirty="0"/>
            <a:t>сортируется</a:t>
          </a:r>
          <a:r>
            <a:rPr lang="ru-RU" sz="2000" kern="1200" dirty="0"/>
            <a:t> по активностям, а затем 80% каждой – идет в </a:t>
          </a:r>
          <a:r>
            <a:rPr lang="en-US" sz="2000" kern="1200" dirty="0"/>
            <a:t>train</a:t>
          </a:r>
          <a:r>
            <a:rPr lang="ru-RU" sz="2000" kern="1200" dirty="0"/>
            <a:t>). </a:t>
          </a:r>
          <a:r>
            <a:rPr lang="ru-RU" sz="2000" u="sng" kern="1200" dirty="0"/>
            <a:t>Минусы</a:t>
          </a:r>
          <a:r>
            <a:rPr lang="ru-RU" sz="2000" kern="1200" dirty="0"/>
            <a:t>: потеря временного контекста </a:t>
          </a:r>
        </a:p>
      </dsp:txBody>
      <dsp:txXfrm rot="10800000">
        <a:off x="0" y="1382391"/>
        <a:ext cx="8237512" cy="905956"/>
      </dsp:txXfrm>
    </dsp:sp>
    <dsp:sp modelId="{C6731D1D-1195-4536-B54B-8BD4201FE701}">
      <dsp:nvSpPr>
        <dsp:cNvPr id="0" name=""/>
        <dsp:cNvSpPr/>
      </dsp:nvSpPr>
      <dsp:spPr>
        <a:xfrm rot="10800000">
          <a:off x="0" y="1717"/>
          <a:ext cx="8237512" cy="1394272"/>
        </a:xfrm>
        <a:prstGeom prst="upArrowCallou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2240" tIns="142240" rIns="142240" bIns="14224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000" u="sng" kern="1200" dirty="0"/>
            <a:t>Разделение «по людям»</a:t>
          </a:r>
          <a:r>
            <a:rPr lang="ru-RU" sz="2000" u="none" kern="1200" dirty="0"/>
            <a:t> </a:t>
          </a:r>
          <a:r>
            <a:rPr lang="ru-RU" sz="2000" kern="1200" dirty="0"/>
            <a:t>(80% первых людей в </a:t>
          </a:r>
          <a:r>
            <a:rPr lang="en-US" sz="2000" kern="1200" dirty="0"/>
            <a:t>train</a:t>
          </a:r>
          <a:r>
            <a:rPr lang="ru-RU" sz="2000" kern="1200" dirty="0"/>
            <a:t>, остальные в </a:t>
          </a:r>
          <a:r>
            <a:rPr lang="en-US" sz="2000" kern="1200" dirty="0"/>
            <a:t>test</a:t>
          </a:r>
          <a:r>
            <a:rPr lang="ru-RU" sz="2000" kern="1200" dirty="0"/>
            <a:t>). </a:t>
          </a:r>
          <a:r>
            <a:rPr lang="ru-RU" sz="2000" u="sng" kern="1200" dirty="0"/>
            <a:t>Минусы</a:t>
          </a:r>
          <a:r>
            <a:rPr lang="ru-RU" sz="2000" kern="1200" dirty="0"/>
            <a:t>: не представлены все классы активностей</a:t>
          </a:r>
        </a:p>
      </dsp:txBody>
      <dsp:txXfrm rot="10800000">
        <a:off x="0" y="1717"/>
        <a:ext cx="8237512" cy="90595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4">
  <dgm:title val=""/>
  <dgm:desc val=""/>
  <dgm:catLst>
    <dgm:cat type="process" pri="16000"/>
    <dgm:cat type="list" pri="20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lin">
      <dgm:param type="linDir" val="fromB"/>
    </dgm:alg>
    <dgm:shape xmlns:r="http://schemas.openxmlformats.org/officeDocument/2006/relationships" r:blip="">
      <dgm:adjLst/>
    </dgm:shape>
    <dgm:presOf/>
    <dgm:constrLst>
      <dgm:constr type="h" for="ch" forName="boxAndChildren" refType="h"/>
      <dgm:constr type="h" for="ch" forName="arrowAndChildren" refType="h" refFor="ch" refForName="boxAndChildren" op="equ" fact="1.538"/>
      <dgm:constr type="w" for="ch" forName="arrowAndChildren" refType="w"/>
      <dgm:constr type="w" for="ch" forName="boxAndChildren" refType="w"/>
      <dgm:constr type="h" for="ch" forName="sp" refType="h" fact="-0.015"/>
      <dgm:constr type="primFontSz" for="des" forName="parentTextBox" val="65"/>
      <dgm:constr type="primFontSz" for="des" forName="parentTextArrow" refType="primFontSz" refFor="des" refForName="parentTextBox" op="equ"/>
      <dgm:constr type="primFontSz" for="des" forName="childTextArrow" val="65"/>
      <dgm:constr type="primFontSz" for="des" forName="childTextBox" refType="primFontSz" refFor="des" refForName="childTextArrow" op="equ"/>
    </dgm:constrLst>
    <dgm:ruleLst/>
    <dgm:forEach name="Name1" axis="ch" ptType="node" st="-1" step="-1">
      <dgm:choose name="Name2">
        <dgm:if name="Name3" axis="self" ptType="node" func="revPos" op="equ" val="1">
          <dgm:layoutNode name="boxAndChildren">
            <dgm:alg type="composite"/>
            <dgm:shape xmlns:r="http://schemas.openxmlformats.org/officeDocument/2006/relationships" r:blip="">
              <dgm:adjLst/>
            </dgm:shape>
            <dgm:presOf/>
            <dgm:choose name="Name4">
              <dgm:if name="Name5" axis="ch" ptType="node" func="cnt" op="gte" val="1">
                <dgm:constrLst>
                  <dgm:constr type="w" for="ch" forName="parentTextBox" refType="w"/>
                  <dgm:constr type="h" for="ch" forName="parentTextBox" refType="h" fact="0.54"/>
                  <dgm:constr type="t" for="ch" forName="parentTextBox"/>
                  <dgm:constr type="w" for="ch" forName="entireBox" refType="w"/>
                  <dgm:constr type="h" for="ch" forName="entireBox" refType="h"/>
                  <dgm:constr type="w" for="ch" forName="descendantBox" refType="w"/>
                  <dgm:constr type="b" for="ch" forName="descendantBox" refType="h" fact="0.98"/>
                  <dgm:constr type="h" for="ch" forName="descendantBox" refType="h" fact="0.46"/>
                </dgm:constrLst>
              </dgm:if>
              <dgm:else name="Name6">
                <dgm:constrLst>
                  <dgm:constr type="w" for="ch" forName="parentTextBox" refType="w"/>
                  <dgm:constr type="h" for="ch" forName="parentTextBox" refType="h"/>
                </dgm:constrLst>
              </dgm:else>
            </dgm:choose>
            <dgm:ruleLst/>
            <dgm:layoutNode name="parentTextBox">
              <dgm:alg type="tx"/>
              <dgm:choose name="Name7">
                <dgm:if name="Name8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9">
                  <dgm:shape xmlns:r="http://schemas.openxmlformats.org/officeDocument/2006/relationships" type="rec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10">
              <dgm:if name="Name11" axis="ch" ptType="node" func="cnt" op="gte" val="1">
                <dgm:layoutNode name="entireBox">
                  <dgm:alg type="sp"/>
                  <dgm:shape xmlns:r="http://schemas.openxmlformats.org/officeDocument/2006/relationships" type="rect" r:blip="">
                    <dgm:adjLst/>
                  </dgm:shape>
                  <dgm:presOf axis="self"/>
                  <dgm:constrLst/>
                  <dgm:ruleLst/>
                </dgm:layoutNode>
                <dgm:layoutNode name="descendantBox" styleLbl="fgAccFollowNode1">
                  <dgm:choose name="Name12">
                    <dgm:if name="Name13" func="var" arg="dir" op="equ" val="norm">
                      <dgm:alg type="lin"/>
                    </dgm:if>
                    <dgm:else name="Name14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Box" refType="w"/>
                    <dgm:constr type="h" for="ch" forName="childTextBox" refType="h"/>
                  </dgm:constrLst>
                  <dgm:ruleLst/>
                  <dgm:forEach name="Name15" axis="ch" ptType="node">
                    <dgm:layoutNode name="childTextBox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16"/>
            </dgm:choose>
          </dgm:layoutNode>
        </dgm:if>
        <dgm:else name="Name17">
          <dgm:layoutNode name="arrowAndChildren">
            <dgm:alg type="composite"/>
            <dgm:shape xmlns:r="http://schemas.openxmlformats.org/officeDocument/2006/relationships" r:blip="">
              <dgm:adjLst/>
            </dgm:shape>
            <dgm:presOf/>
            <dgm:choose name="Name18">
              <dgm:if name="Name19" axis="ch" ptType="node" func="cnt" op="gte" val="1">
                <dgm:constrLst>
                  <dgm:constr type="w" for="ch" forName="parentTextArrow" refType="w"/>
                  <dgm:constr type="t" for="ch" forName="parentTextArrow"/>
                  <dgm:constr type="h" for="ch" forName="parentTextArrow" refType="h" fact="0.351"/>
                  <dgm:constr type="w" for="ch" forName="arrow" refType="w"/>
                  <dgm:constr type="h" for="ch" forName="arrow" refType="h"/>
                  <dgm:constr type="w" for="ch" forName="descendantArrow" refType="w"/>
                  <dgm:constr type="b" for="ch" forName="descendantArrow" refType="h" fact="0.65"/>
                  <dgm:constr type="h" for="ch" forName="descendantArrow" refType="h" fact="0.299"/>
                </dgm:constrLst>
              </dgm:if>
              <dgm:else name="Name20">
                <dgm:constrLst>
                  <dgm:constr type="w" for="ch" forName="parentTextArrow" refType="w"/>
                  <dgm:constr type="h" for="ch" forName="parentTextArrow" refType="h"/>
                </dgm:constrLst>
              </dgm:else>
            </dgm:choose>
            <dgm:ruleLst/>
            <dgm:layoutNode name="parentTextArrow">
              <dgm:alg type="tx"/>
              <dgm:choose name="Name21">
                <dgm:if name="Name22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23">
                  <dgm:shape xmlns:r="http://schemas.openxmlformats.org/officeDocument/2006/relationships" rot="180" type="upArrowCallou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24">
              <dgm:if name="Name25" axis="ch" ptType="node" func="cnt" op="gte" val="1">
                <dgm:layoutNode name="arrow">
                  <dgm:alg type="sp"/>
                  <dgm:shape xmlns:r="http://schemas.openxmlformats.org/officeDocument/2006/relationships" rot="180" type="upArrowCallout" r:blip="">
                    <dgm:adjLst/>
                  </dgm:shape>
                  <dgm:presOf axis="self"/>
                  <dgm:constrLst/>
                  <dgm:ruleLst/>
                </dgm:layoutNode>
                <dgm:layoutNode name="descendantArrow">
                  <dgm:choose name="Name26">
                    <dgm:if name="Name27" func="var" arg="dir" op="equ" val="norm">
                      <dgm:alg type="lin"/>
                    </dgm:if>
                    <dgm:else name="Name28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Arrow" refType="w"/>
                    <dgm:constr type="h" for="ch" forName="childTextArrow" refType="h"/>
                  </dgm:constrLst>
                  <dgm:ruleLst/>
                  <dgm:forEach name="Name29" axis="ch" ptType="node">
                    <dgm:layoutNode name="childTextArrow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30"/>
            </dgm:choose>
          </dgm:layoutNode>
        </dgm:else>
      </dgm:choose>
      <dgm:forEach name="Name31" axis="precedSib" ptType="sibTrans" st="-1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 dirty="0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E86FABA-D603-46B8-94C7-F73A40963B6B}" type="datetimeFigureOut">
              <a:rPr lang="ru-RU" smtClean="0"/>
              <a:t>06.06.2025</a:t>
            </a:fld>
            <a:endParaRPr lang="ru-RU" dirty="0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 dirty="0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 dirty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C2C539-D2AA-42BB-9DB2-01C91D0B00A3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6920155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итульный слайд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990656" cy="1470025"/>
          </a:xfrm>
        </p:spPr>
        <p:txBody>
          <a:bodyPr>
            <a:normAutofit/>
          </a:bodyPr>
          <a:lstStyle>
            <a:lvl1pPr algn="r">
              <a:defRPr sz="4000" cap="all" baseline="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284988255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рабочая страница БЕЛЫЙ ФО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2339752" y="274638"/>
            <a:ext cx="6624736" cy="706090"/>
          </a:xfrm>
        </p:spPr>
        <p:txBody>
          <a:bodyPr>
            <a:normAutofit/>
          </a:bodyPr>
          <a:lstStyle>
            <a:lvl1pPr algn="r">
              <a:defRPr sz="2800" cap="all" baseline="0">
                <a:solidFill>
                  <a:schemeClr val="accent2">
                    <a:lumMod val="75000"/>
                  </a:schemeClr>
                </a:solidFill>
              </a:defRPr>
            </a:lvl1pPr>
          </a:lstStyle>
          <a:p>
            <a:r>
              <a:rPr lang="ru-RU" dirty="0"/>
              <a:t>Колонтитул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6804248" y="6237312"/>
            <a:ext cx="2133600" cy="365125"/>
          </a:xfrm>
        </p:spPr>
        <p:txBody>
          <a:bodyPr/>
          <a:lstStyle/>
          <a:p>
            <a:fld id="{B6743867-4E32-4E2D-8739-58246E7E28D2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06422078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рабочая страница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2339752" y="274638"/>
            <a:ext cx="6624736" cy="706090"/>
          </a:xfrm>
        </p:spPr>
        <p:txBody>
          <a:bodyPr>
            <a:normAutofit/>
          </a:bodyPr>
          <a:lstStyle>
            <a:lvl1pPr algn="r">
              <a:defRPr sz="2800" cap="all" baseline="0">
                <a:solidFill>
                  <a:schemeClr val="accent2">
                    <a:lumMod val="75000"/>
                  </a:schemeClr>
                </a:solidFill>
              </a:defRPr>
            </a:lvl1pPr>
          </a:lstStyle>
          <a:p>
            <a:r>
              <a:rPr lang="ru-RU" dirty="0"/>
              <a:t>Колонтитул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6804248" y="6237312"/>
            <a:ext cx="2133600" cy="365125"/>
          </a:xfrm>
        </p:spPr>
        <p:txBody>
          <a:bodyPr/>
          <a:lstStyle/>
          <a:p>
            <a:fld id="{B6743867-4E32-4E2D-8739-58246E7E28D2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95703059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рабочая страница СЕРЫЙ ФОН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6804248" y="6237312"/>
            <a:ext cx="2133600" cy="365125"/>
          </a:xfrm>
        </p:spPr>
        <p:txBody>
          <a:bodyPr/>
          <a:lstStyle/>
          <a:p>
            <a:fld id="{B6743867-4E32-4E2D-8739-58246E7E28D2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8" name="Заголовок 1"/>
          <p:cNvSpPr txBox="1">
            <a:spLocks/>
          </p:cNvSpPr>
          <p:nvPr userDrawn="1"/>
        </p:nvSpPr>
        <p:spPr>
          <a:xfrm>
            <a:off x="2339752" y="274638"/>
            <a:ext cx="6624736" cy="70609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 defTabSz="914400" rtl="0" eaLnBrk="1" latinLnBrk="0" hangingPunct="1">
              <a:spcBef>
                <a:spcPct val="0"/>
              </a:spcBef>
              <a:buNone/>
              <a:defRPr sz="2800" kern="1200" cap="all" baseline="0">
                <a:solidFill>
                  <a:schemeClr val="accent2">
                    <a:lumMod val="50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>
                <a:solidFill>
                  <a:schemeClr val="accent2">
                    <a:lumMod val="75000"/>
                  </a:schemeClr>
                </a:solidFill>
              </a:rPr>
              <a:t>Колонтитул</a:t>
            </a:r>
          </a:p>
        </p:txBody>
      </p:sp>
      <p:sp>
        <p:nvSpPr>
          <p:cNvPr id="9" name="Объект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269357732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оследний кадр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 userDrawn="1"/>
        </p:nvSpPr>
        <p:spPr>
          <a:xfrm>
            <a:off x="5436033" y="5373216"/>
            <a:ext cx="3145476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ru-RU" dirty="0">
                <a:solidFill>
                  <a:schemeClr val="bg1"/>
                </a:solidFill>
              </a:rPr>
              <a:t>Санкт-Петербургский</a:t>
            </a:r>
            <a:br>
              <a:rPr lang="ru-RU" dirty="0">
                <a:solidFill>
                  <a:schemeClr val="bg1"/>
                </a:solidFill>
              </a:rPr>
            </a:br>
            <a:r>
              <a:rPr lang="ru-RU" dirty="0">
                <a:solidFill>
                  <a:schemeClr val="bg1"/>
                </a:solidFill>
              </a:rPr>
              <a:t>государственный</a:t>
            </a:r>
            <a:r>
              <a:rPr lang="ru-RU" baseline="0" dirty="0">
                <a:solidFill>
                  <a:schemeClr val="bg1"/>
                </a:solidFill>
              </a:rPr>
              <a:t> университет</a:t>
            </a:r>
            <a:br>
              <a:rPr lang="ru-RU" baseline="0" dirty="0">
                <a:solidFill>
                  <a:schemeClr val="bg1"/>
                </a:solidFill>
              </a:rPr>
            </a:br>
            <a:r>
              <a:rPr lang="en-US" b="1" baseline="0" dirty="0">
                <a:solidFill>
                  <a:schemeClr val="bg1"/>
                </a:solidFill>
              </a:rPr>
              <a:t>spbu.ru</a:t>
            </a:r>
            <a:endParaRPr lang="ru-RU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4977459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jp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7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7CEAB62-4EEE-43F2-A223-FD26436F8458}" type="datetime1">
              <a:rPr lang="ru-RU" smtClean="0"/>
              <a:t>06.06.2025</a:t>
            </a:fld>
            <a:endParaRPr lang="ru-RU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743867-4E32-4E2D-8739-58246E7E28D2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7440394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6" r:id="rId3"/>
    <p:sldLayoutId id="2147483651" r:id="rId4"/>
    <p:sldLayoutId id="2147483655" r:id="rId5"/>
  </p:sldLayoutIdLst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g"/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microsoft.com/office/2007/relationships/hdphoto" Target="../media/hdphoto1.wdp"/><Relationship Id="rId7" Type="http://schemas.microsoft.com/office/2007/relationships/hdphoto" Target="../media/hdphoto3.wdp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png"/><Relationship Id="rId5" Type="http://schemas.microsoft.com/office/2007/relationships/hdphoto" Target="../media/hdphoto2.wdp"/><Relationship Id="rId4" Type="http://schemas.openxmlformats.org/officeDocument/2006/relationships/image" Target="../media/image24.png"/><Relationship Id="rId9" Type="http://schemas.microsoft.com/office/2007/relationships/hdphoto" Target="../media/hdphoto4.wdp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3" Type="http://schemas.microsoft.com/office/2007/relationships/hdphoto" Target="../media/hdphoto5.wdp"/><Relationship Id="rId7" Type="http://schemas.microsoft.com/office/2007/relationships/hdphoto" Target="../media/hdphoto7.wdp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.png"/><Relationship Id="rId5" Type="http://schemas.microsoft.com/office/2007/relationships/hdphoto" Target="../media/hdphoto6.wdp"/><Relationship Id="rId4" Type="http://schemas.openxmlformats.org/officeDocument/2006/relationships/image" Target="../media/image28.png"/><Relationship Id="rId9" Type="http://schemas.microsoft.com/office/2007/relationships/hdphoto" Target="../media/hdphoto8.wdp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jpg"/><Relationship Id="rId2" Type="http://schemas.openxmlformats.org/officeDocument/2006/relationships/image" Target="../media/image31.jp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Классификация физической активности по данным с </a:t>
            </a:r>
            <a:r>
              <a:rPr lang="en-US" dirty="0"/>
              <a:t>IMU </a:t>
            </a:r>
            <a:r>
              <a:rPr lang="ru-RU" dirty="0"/>
              <a:t>датчиков</a:t>
            </a:r>
          </a:p>
        </p:txBody>
      </p:sp>
      <p:sp>
        <p:nvSpPr>
          <p:cNvPr id="3" name="Заголовок 1">
            <a:extLst>
              <a:ext uri="{FF2B5EF4-FFF2-40B4-BE49-F238E27FC236}">
                <a16:creationId xmlns:a16="http://schemas.microsoft.com/office/drawing/2014/main" id="{0E02374F-A177-4A91-AA23-94454FB97FEF}"/>
              </a:ext>
            </a:extLst>
          </p:cNvPr>
          <p:cNvSpPr txBox="1">
            <a:spLocks/>
          </p:cNvSpPr>
          <p:nvPr/>
        </p:nvSpPr>
        <p:spPr>
          <a:xfrm>
            <a:off x="899592" y="4365104"/>
            <a:ext cx="7990656" cy="14700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r" defTabSz="914400" rtl="0" eaLnBrk="1" latinLnBrk="0" hangingPunct="1">
              <a:spcBef>
                <a:spcPct val="0"/>
              </a:spcBef>
              <a:buNone/>
              <a:defRPr sz="4000" kern="1200" cap="all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2400" dirty="0"/>
              <a:t>Барафанов а. а.</a:t>
            </a:r>
          </a:p>
          <a:p>
            <a:r>
              <a:rPr lang="ru-RU" sz="2400" dirty="0"/>
              <a:t>сон м. п.</a:t>
            </a:r>
          </a:p>
        </p:txBody>
      </p:sp>
    </p:spTree>
    <p:extLst>
      <p:ext uri="{BB962C8B-B14F-4D97-AF65-F5344CB8AC3E}">
        <p14:creationId xmlns:p14="http://schemas.microsoft.com/office/powerpoint/2010/main" val="100017675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Описание датасета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18356" y="1484784"/>
            <a:ext cx="8507288" cy="45259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600" dirty="0"/>
              <a:t>Датасет представляет собой </a:t>
            </a:r>
            <a:r>
              <a:rPr lang="ru-RU" sz="2600" u="sng" dirty="0"/>
              <a:t>замеры физических показателей</a:t>
            </a:r>
            <a:r>
              <a:rPr lang="ru-RU" sz="2600" dirty="0"/>
              <a:t> (пульс и тд.) 9-ти участников эксперимента, которые носили </a:t>
            </a:r>
            <a:r>
              <a:rPr lang="ru-RU" sz="2600" u="sng" dirty="0"/>
              <a:t>трекеры активности в течение 24 часов</a:t>
            </a:r>
            <a:r>
              <a:rPr lang="ru-RU" sz="2600" dirty="0"/>
              <a:t>. </a:t>
            </a:r>
          </a:p>
          <a:p>
            <a:pPr marL="0" indent="0">
              <a:buNone/>
            </a:pPr>
            <a:r>
              <a:rPr lang="ru-RU" sz="2600" dirty="0"/>
              <a:t>Собранные данные были обработаны и согласованы для получения </a:t>
            </a:r>
            <a:r>
              <a:rPr lang="ru-RU" sz="2600" u="sng" dirty="0"/>
              <a:t>данных о временных рядах, аннотированных выполняемыми действиями</a:t>
            </a:r>
            <a:r>
              <a:rPr lang="ru-RU" sz="2600" dirty="0"/>
              <a:t> (сон, ходьба, бег, прыжки на скакалке, глажка белья и тд).</a:t>
            </a:r>
          </a:p>
          <a:p>
            <a:pPr marL="0" indent="0">
              <a:buNone/>
            </a:pPr>
            <a:endParaRPr lang="ru-RU" sz="2800" dirty="0"/>
          </a:p>
          <a:p>
            <a:pPr marL="0" indent="0">
              <a:buNone/>
            </a:pPr>
            <a:r>
              <a:rPr lang="ru-RU" sz="2400" dirty="0"/>
              <a:t>* Участники также носили камеру в дневное время и вели дневник, в котором регистрировали время сна в ночное время.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43867-4E32-4E2D-8739-58246E7E28D2}" type="slidenum">
              <a:rPr lang="ru-RU" smtClean="0"/>
              <a:t>2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17688674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Цель проекта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31118" y="2030114"/>
            <a:ext cx="8606730" cy="279777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800" dirty="0"/>
              <a:t>Провести обработку и качественный </a:t>
            </a:r>
            <a:r>
              <a:rPr lang="ru-RU" sz="2800" u="sng" dirty="0"/>
              <a:t>анализ большого набора данных</a:t>
            </a:r>
            <a:r>
              <a:rPr lang="ru-RU" sz="2800" dirty="0"/>
              <a:t> (около </a:t>
            </a:r>
            <a:r>
              <a:rPr lang="en-US" sz="2800" dirty="0"/>
              <a:t>3 </a:t>
            </a:r>
            <a:r>
              <a:rPr lang="ru-RU" sz="2800" dirty="0"/>
              <a:t>млн. записей) с трекеров физической активности и использовать эффективные подходы и </a:t>
            </a:r>
            <a:r>
              <a:rPr lang="en-US" sz="2800" dirty="0"/>
              <a:t>ML</a:t>
            </a:r>
            <a:r>
              <a:rPr lang="ru-RU" sz="2800" dirty="0"/>
              <a:t>-модели для решения </a:t>
            </a:r>
            <a:r>
              <a:rPr lang="ru-RU" sz="2800" u="sng" dirty="0"/>
              <a:t>задачи многоклассовой классификации</a:t>
            </a:r>
            <a:r>
              <a:rPr lang="ru-RU" sz="2800" dirty="0"/>
              <a:t> (типа физической активности).  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43867-4E32-4E2D-8739-58246E7E28D2}" type="slidenum">
              <a:rPr lang="ru-RU" smtClean="0"/>
              <a:t>3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09130604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актуальность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95536" y="2132856"/>
            <a:ext cx="8352928" cy="230425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800" dirty="0"/>
              <a:t>Обученные модели позволят точно </a:t>
            </a:r>
            <a:r>
              <a:rPr lang="ru-RU" sz="2800" u="sng" dirty="0"/>
              <a:t>предсказывать тип физической активности</a:t>
            </a:r>
            <a:r>
              <a:rPr lang="ru-RU" sz="2800" dirty="0"/>
              <a:t> по нескольким наручным датчикам «здоровья», что в свою очередь позволит </a:t>
            </a:r>
            <a:r>
              <a:rPr lang="ru-RU" sz="2800" u="sng" dirty="0"/>
              <a:t>судить о паттернах состояния человека</a:t>
            </a:r>
            <a:r>
              <a:rPr lang="ru-RU" sz="2800" dirty="0"/>
              <a:t> в зависимости от различных условий.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43867-4E32-4E2D-8739-58246E7E28D2}" type="slidenum">
              <a:rPr lang="ru-RU" smtClean="0"/>
              <a:t>4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52299745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Начальные сведения о датасете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43867-4E32-4E2D-8739-58246E7E28D2}" type="slidenum">
              <a:rPr lang="ru-RU" smtClean="0"/>
              <a:t>5</a:t>
            </a:fld>
            <a:endParaRPr lang="ru-RU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60A8670B-AEA1-4E71-B029-0D92578069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9672" y="1268760"/>
            <a:ext cx="5484804" cy="5059325"/>
          </a:xfrm>
          <a:prstGeom prst="rect">
            <a:avLst/>
          </a:prstGeom>
          <a:ln w="19050">
            <a:solidFill>
              <a:schemeClr val="accent2">
                <a:lumMod val="7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86543971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Выделенные особенности датасета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43867-4E32-4E2D-8739-58246E7E28D2}" type="slidenum">
              <a:rPr lang="ru-RU" smtClean="0"/>
              <a:t>6</a:t>
            </a:fld>
            <a:endParaRPr lang="ru-RU" dirty="0"/>
          </a:p>
        </p:txBody>
      </p:sp>
      <p:sp>
        <p:nvSpPr>
          <p:cNvPr id="5" name="Объект 2">
            <a:extLst>
              <a:ext uri="{FF2B5EF4-FFF2-40B4-BE49-F238E27FC236}">
                <a16:creationId xmlns:a16="http://schemas.microsoft.com/office/drawing/2014/main" id="{7CAFFCEA-B768-4731-B7DB-E0BE0CB35D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6152" y="1556792"/>
            <a:ext cx="8974360" cy="108012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800" dirty="0"/>
              <a:t>В ходе работы были выделены следующие особенности данных: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5DC0F5D8-DB5D-487C-933F-E8FCD6F30E21}"/>
              </a:ext>
            </a:extLst>
          </p:cNvPr>
          <p:cNvSpPr/>
          <p:nvPr/>
        </p:nvSpPr>
        <p:spPr>
          <a:xfrm>
            <a:off x="611560" y="2636912"/>
            <a:ext cx="8686328" cy="278537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14350" indent="-514350">
              <a:spcAft>
                <a:spcPts val="1800"/>
              </a:spcAft>
              <a:buFont typeface="Wingdings" panose="05000000000000000000" pitchFamily="2" charset="2"/>
              <a:buChar char="ü"/>
            </a:pPr>
            <a:r>
              <a:rPr lang="ru-RU" sz="2600" dirty="0"/>
              <a:t>Временная природа данных и последовательность измерений;</a:t>
            </a:r>
          </a:p>
          <a:p>
            <a:pPr marL="514350" indent="-514350">
              <a:spcAft>
                <a:spcPts val="1800"/>
              </a:spcAft>
              <a:buFont typeface="Wingdings" panose="05000000000000000000" pitchFamily="2" charset="2"/>
              <a:buChar char="ü"/>
            </a:pPr>
            <a:r>
              <a:rPr lang="ru-RU" sz="2600" dirty="0"/>
              <a:t>Многосубъектность и её влияние на классы;</a:t>
            </a:r>
          </a:p>
          <a:p>
            <a:pPr marL="514350" indent="-514350">
              <a:spcAft>
                <a:spcPts val="1800"/>
              </a:spcAft>
              <a:buFont typeface="Wingdings" panose="05000000000000000000" pitchFamily="2" charset="2"/>
              <a:buChar char="ü"/>
            </a:pPr>
            <a:r>
              <a:rPr lang="ru-RU" sz="2600" dirty="0"/>
              <a:t>Дисбаланс классов и редкие активности;</a:t>
            </a:r>
          </a:p>
          <a:p>
            <a:pPr marL="514350" indent="-514350">
              <a:spcAft>
                <a:spcPts val="1800"/>
              </a:spcAft>
              <a:buFont typeface="Wingdings" panose="05000000000000000000" pitchFamily="2" charset="2"/>
              <a:buChar char="ü"/>
            </a:pPr>
            <a:r>
              <a:rPr lang="ru-RU" sz="2600" dirty="0"/>
              <a:t>Различная частота замеров датчиков;</a:t>
            </a:r>
          </a:p>
        </p:txBody>
      </p:sp>
    </p:spTree>
    <p:extLst>
      <p:ext uri="{BB962C8B-B14F-4D97-AF65-F5344CB8AC3E}">
        <p14:creationId xmlns:p14="http://schemas.microsoft.com/office/powerpoint/2010/main" val="179474567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sz="2300" dirty="0"/>
              <a:t>Предобработка на основе описания данных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43867-4E32-4E2D-8739-58246E7E28D2}" type="slidenum">
              <a:rPr lang="ru-RU" smtClean="0"/>
              <a:t>7</a:t>
            </a:fld>
            <a:endParaRPr lang="ru-RU" dirty="0"/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80D9A41F-FCE2-48B7-A94A-CEDC76900C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528" y="1950162"/>
            <a:ext cx="8496944" cy="460771"/>
          </a:xfrm>
          <a:prstGeom prst="rect">
            <a:avLst/>
          </a:prstGeom>
          <a:ln w="19050">
            <a:solidFill>
              <a:schemeClr val="accent2">
                <a:lumMod val="75000"/>
              </a:schemeClr>
            </a:solidFill>
          </a:ln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A2EF5D23-E7A5-49D4-8164-EC9B48962E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3528" y="3284984"/>
            <a:ext cx="8479742" cy="2856945"/>
          </a:xfrm>
          <a:prstGeom prst="rect">
            <a:avLst/>
          </a:prstGeom>
          <a:ln w="19050">
            <a:solidFill>
              <a:schemeClr val="accent2">
                <a:lumMod val="75000"/>
              </a:schemeClr>
            </a:solidFill>
          </a:ln>
        </p:spPr>
      </p:pic>
      <p:sp>
        <p:nvSpPr>
          <p:cNvPr id="11" name="Объект 2">
            <a:extLst>
              <a:ext uri="{FF2B5EF4-FFF2-40B4-BE49-F238E27FC236}">
                <a16:creationId xmlns:a16="http://schemas.microsoft.com/office/drawing/2014/main" id="{ADD5D777-9E1C-4FEB-9A9D-468E646AA0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520" y="1273366"/>
            <a:ext cx="6408712" cy="57145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800" dirty="0"/>
              <a:t>Столбцы «под удаление» </a:t>
            </a:r>
            <a:r>
              <a:rPr lang="ru-RU" sz="2600" dirty="0"/>
              <a:t>(+</a:t>
            </a:r>
            <a:r>
              <a:rPr lang="en-US" sz="2600" dirty="0"/>
              <a:t> </a:t>
            </a:r>
            <a:r>
              <a:rPr lang="ru-RU" sz="2600" dirty="0"/>
              <a:t>«</a:t>
            </a:r>
            <a:r>
              <a:rPr lang="en-US" sz="2600" dirty="0"/>
              <a:t>timestamp</a:t>
            </a:r>
            <a:r>
              <a:rPr lang="ru-RU" sz="2600" dirty="0"/>
              <a:t>»</a:t>
            </a:r>
            <a:r>
              <a:rPr lang="en-US" sz="2600" dirty="0"/>
              <a:t>)</a:t>
            </a:r>
            <a:r>
              <a:rPr lang="ru-RU" sz="2800" dirty="0"/>
              <a:t>:</a:t>
            </a:r>
          </a:p>
        </p:txBody>
      </p:sp>
      <p:sp>
        <p:nvSpPr>
          <p:cNvPr id="12" name="Объект 2">
            <a:extLst>
              <a:ext uri="{FF2B5EF4-FFF2-40B4-BE49-F238E27FC236}">
                <a16:creationId xmlns:a16="http://schemas.microsoft.com/office/drawing/2014/main" id="{661A58C9-C99C-457E-BFDA-ADFB8332016E}"/>
              </a:ext>
            </a:extLst>
          </p:cNvPr>
          <p:cNvSpPr txBox="1">
            <a:spLocks/>
          </p:cNvSpPr>
          <p:nvPr/>
        </p:nvSpPr>
        <p:spPr>
          <a:xfrm>
            <a:off x="251520" y="2623312"/>
            <a:ext cx="4834408" cy="57145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ru-RU" sz="2800" dirty="0"/>
              <a:t>Система хранения данных:</a:t>
            </a:r>
          </a:p>
        </p:txBody>
      </p:sp>
    </p:spTree>
    <p:extLst>
      <p:ext uri="{BB962C8B-B14F-4D97-AF65-F5344CB8AC3E}">
        <p14:creationId xmlns:p14="http://schemas.microsoft.com/office/powerpoint/2010/main" val="167651493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339752" y="265211"/>
            <a:ext cx="6624736" cy="706090"/>
          </a:xfrm>
        </p:spPr>
        <p:txBody>
          <a:bodyPr/>
          <a:lstStyle/>
          <a:p>
            <a:r>
              <a:rPr lang="ru-RU" dirty="0"/>
              <a:t>Заполнение пропусков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43867-4E32-4E2D-8739-58246E7E28D2}" type="slidenum">
              <a:rPr lang="ru-RU" smtClean="0"/>
              <a:t>8</a:t>
            </a:fld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37289C3E-9A9A-4390-A875-407B05FBE9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024" y="2780928"/>
            <a:ext cx="8676456" cy="2185843"/>
          </a:xfrm>
          <a:prstGeom prst="rect">
            <a:avLst/>
          </a:prstGeom>
          <a:ln w="19050">
            <a:solidFill>
              <a:schemeClr val="accent2">
                <a:lumMod val="75000"/>
              </a:schemeClr>
            </a:solidFill>
          </a:ln>
        </p:spPr>
      </p:pic>
      <p:sp>
        <p:nvSpPr>
          <p:cNvPr id="7" name="Объект 2">
            <a:extLst>
              <a:ext uri="{FF2B5EF4-FFF2-40B4-BE49-F238E27FC236}">
                <a16:creationId xmlns:a16="http://schemas.microsoft.com/office/drawing/2014/main" id="{AC7039D6-55C9-4927-8D05-72FAAF7F52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3000" y="1266349"/>
            <a:ext cx="9001000" cy="121953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ru-RU" sz="2400" dirty="0"/>
              <a:t>Подавляющее </a:t>
            </a:r>
            <a:r>
              <a:rPr lang="ru-RU" sz="2400" u="sng" dirty="0"/>
              <a:t>большинство пропусков находится в столбце «</a:t>
            </a:r>
            <a:r>
              <a:rPr lang="en-US" sz="2400" u="sng" dirty="0"/>
              <a:t>heart_rate</a:t>
            </a:r>
            <a:r>
              <a:rPr lang="ru-RU" sz="2400" u="sng" dirty="0"/>
              <a:t>»</a:t>
            </a:r>
            <a:r>
              <a:rPr lang="ru-RU" sz="2400" dirty="0"/>
              <a:t> (пульс) и </a:t>
            </a:r>
            <a:r>
              <a:rPr lang="ru-RU" sz="2400" u="sng" dirty="0"/>
              <a:t>связано с низкой частотой измерения</a:t>
            </a:r>
            <a:r>
              <a:rPr lang="ru-RU" sz="2400" dirty="0"/>
              <a:t> этого датчика относительно замеров других показателей.</a:t>
            </a:r>
          </a:p>
        </p:txBody>
      </p:sp>
      <p:cxnSp>
        <p:nvCxnSpPr>
          <p:cNvPr id="11" name="Прямая со стрелкой 10">
            <a:extLst>
              <a:ext uri="{FF2B5EF4-FFF2-40B4-BE49-F238E27FC236}">
                <a16:creationId xmlns:a16="http://schemas.microsoft.com/office/drawing/2014/main" id="{A6C5016B-5145-4F39-8B77-3361214DE7DE}"/>
              </a:ext>
            </a:extLst>
          </p:cNvPr>
          <p:cNvCxnSpPr>
            <a:cxnSpLocks/>
          </p:cNvCxnSpPr>
          <p:nvPr/>
        </p:nvCxnSpPr>
        <p:spPr>
          <a:xfrm flipH="1" flipV="1">
            <a:off x="2699792" y="4221088"/>
            <a:ext cx="576064" cy="432048"/>
          </a:xfrm>
          <a:prstGeom prst="straightConnector1">
            <a:avLst/>
          </a:prstGeom>
          <a:ln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2ED3BB33-2B80-46AF-B306-590D3BE651DE}"/>
              </a:ext>
            </a:extLst>
          </p:cNvPr>
          <p:cNvSpPr/>
          <p:nvPr/>
        </p:nvSpPr>
        <p:spPr>
          <a:xfrm>
            <a:off x="2123728" y="3367250"/>
            <a:ext cx="504056" cy="1599521"/>
          </a:xfrm>
          <a:prstGeom prst="rect">
            <a:avLst/>
          </a:prstGeom>
          <a:noFill/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Объект 2">
            <a:extLst>
              <a:ext uri="{FF2B5EF4-FFF2-40B4-BE49-F238E27FC236}">
                <a16:creationId xmlns:a16="http://schemas.microsoft.com/office/drawing/2014/main" id="{63DCFA61-E330-4589-9E50-C1DD1884B26F}"/>
              </a:ext>
            </a:extLst>
          </p:cNvPr>
          <p:cNvSpPr txBox="1">
            <a:spLocks/>
          </p:cNvSpPr>
          <p:nvPr/>
        </p:nvSpPr>
        <p:spPr>
          <a:xfrm>
            <a:off x="138411" y="5200344"/>
            <a:ext cx="9001000" cy="121953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2400" dirty="0"/>
              <a:t>Принятое решение по заполнению: </a:t>
            </a:r>
            <a:r>
              <a:rPr lang="en-US" sz="2400" u="sng" dirty="0"/>
              <a:t>Last observation carried forward (LOCF)</a:t>
            </a:r>
            <a:r>
              <a:rPr lang="ru-RU" sz="2400" dirty="0"/>
              <a:t>, то есть заполнение предыдущим значением.</a:t>
            </a:r>
          </a:p>
        </p:txBody>
      </p:sp>
    </p:spTree>
    <p:extLst>
      <p:ext uri="{BB962C8B-B14F-4D97-AF65-F5344CB8AC3E}">
        <p14:creationId xmlns:p14="http://schemas.microsoft.com/office/powerpoint/2010/main" val="251455081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EDA </a:t>
            </a:r>
            <a:r>
              <a:rPr lang="ru-RU" sz="2400" dirty="0"/>
              <a:t>(Разведочный анализ данных)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43867-4E32-4E2D-8739-58246E7E28D2}" type="slidenum">
              <a:rPr lang="ru-RU" smtClean="0"/>
              <a:t>9</a:t>
            </a:fld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1BE8CADE-DEFC-4F37-B509-4BBEDCB957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568" y="1161174"/>
            <a:ext cx="7647625" cy="5093983"/>
          </a:xfrm>
          <a:prstGeom prst="rect">
            <a:avLst/>
          </a:prstGeom>
          <a:ln w="19050">
            <a:solidFill>
              <a:schemeClr val="accent2">
                <a:lumMod val="7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190934469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2600" dirty="0"/>
              <a:t>Распределение целевой переменной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43867-4E32-4E2D-8739-58246E7E28D2}" type="slidenum">
              <a:rPr lang="ru-RU" smtClean="0"/>
              <a:t>10</a:t>
            </a:fld>
            <a:endParaRPr lang="ru-RU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DCFA67D0-D851-4842-9CBA-283263939B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7788" y="1124744"/>
            <a:ext cx="8388424" cy="5181301"/>
          </a:xfrm>
          <a:prstGeom prst="rect">
            <a:avLst/>
          </a:prstGeom>
          <a:ln w="19050">
            <a:solidFill>
              <a:schemeClr val="accent2">
                <a:lumMod val="75000"/>
              </a:schemeClr>
            </a:solidFill>
          </a:ln>
        </p:spPr>
      </p:pic>
      <p:cxnSp>
        <p:nvCxnSpPr>
          <p:cNvPr id="7" name="Прямая со стрелкой 6">
            <a:extLst>
              <a:ext uri="{FF2B5EF4-FFF2-40B4-BE49-F238E27FC236}">
                <a16:creationId xmlns:a16="http://schemas.microsoft.com/office/drawing/2014/main" id="{EC5C3C40-FE4C-49CB-88C0-48A587262F78}"/>
              </a:ext>
            </a:extLst>
          </p:cNvPr>
          <p:cNvCxnSpPr>
            <a:cxnSpLocks/>
          </p:cNvCxnSpPr>
          <p:nvPr/>
        </p:nvCxnSpPr>
        <p:spPr>
          <a:xfrm flipH="1">
            <a:off x="7871048" y="4221088"/>
            <a:ext cx="258816" cy="792088"/>
          </a:xfrm>
          <a:prstGeom prst="straightConnector1">
            <a:avLst/>
          </a:prstGeom>
          <a:ln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3144450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sz="2300" dirty="0"/>
              <a:t>Распределение по участникам эксперимента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43867-4E32-4E2D-8739-58246E7E28D2}" type="slidenum">
              <a:rPr lang="ru-RU" smtClean="0"/>
              <a:t>11</a:t>
            </a:fld>
            <a:endParaRPr lang="ru-RU" dirty="0"/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C165EE28-6023-432F-B697-7949E951F1C0}"/>
              </a:ext>
            </a:extLst>
          </p:cNvPr>
          <p:cNvSpPr/>
          <p:nvPr/>
        </p:nvSpPr>
        <p:spPr>
          <a:xfrm>
            <a:off x="110931" y="2309976"/>
            <a:ext cx="8922138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endParaRPr lang="ru-RU" sz="2800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D84C5F12-BE44-4276-AF0C-027093F32D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520" y="1412776"/>
            <a:ext cx="8565525" cy="4495428"/>
          </a:xfrm>
          <a:prstGeom prst="rect">
            <a:avLst/>
          </a:prstGeom>
          <a:ln w="19050">
            <a:solidFill>
              <a:schemeClr val="accent2">
                <a:lumMod val="75000"/>
              </a:schemeClr>
            </a:solidFill>
          </a:ln>
        </p:spPr>
      </p:pic>
      <p:cxnSp>
        <p:nvCxnSpPr>
          <p:cNvPr id="9" name="Прямая со стрелкой 8">
            <a:extLst>
              <a:ext uri="{FF2B5EF4-FFF2-40B4-BE49-F238E27FC236}">
                <a16:creationId xmlns:a16="http://schemas.microsoft.com/office/drawing/2014/main" id="{BFDB055B-175F-4D4B-B631-93A8A5805D9B}"/>
              </a:ext>
            </a:extLst>
          </p:cNvPr>
          <p:cNvCxnSpPr>
            <a:cxnSpLocks/>
          </p:cNvCxnSpPr>
          <p:nvPr/>
        </p:nvCxnSpPr>
        <p:spPr>
          <a:xfrm>
            <a:off x="3131840" y="3065772"/>
            <a:ext cx="720080" cy="363228"/>
          </a:xfrm>
          <a:prstGeom prst="straightConnector1">
            <a:avLst/>
          </a:prstGeom>
          <a:ln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Прямая со стрелкой 11">
            <a:extLst>
              <a:ext uri="{FF2B5EF4-FFF2-40B4-BE49-F238E27FC236}">
                <a16:creationId xmlns:a16="http://schemas.microsoft.com/office/drawing/2014/main" id="{7CB67CE2-2DC7-4D44-892E-9DEA526D42D9}"/>
              </a:ext>
            </a:extLst>
          </p:cNvPr>
          <p:cNvCxnSpPr>
            <a:cxnSpLocks/>
          </p:cNvCxnSpPr>
          <p:nvPr/>
        </p:nvCxnSpPr>
        <p:spPr>
          <a:xfrm flipH="1">
            <a:off x="4932040" y="2077400"/>
            <a:ext cx="864096" cy="605386"/>
          </a:xfrm>
          <a:prstGeom prst="straightConnector1">
            <a:avLst/>
          </a:prstGeom>
          <a:ln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2929376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976285" y="267642"/>
            <a:ext cx="7056784" cy="706090"/>
          </a:xfrm>
        </p:spPr>
        <p:txBody>
          <a:bodyPr>
            <a:noAutofit/>
          </a:bodyPr>
          <a:lstStyle/>
          <a:p>
            <a:r>
              <a:rPr lang="ru-RU" sz="2200" dirty="0"/>
              <a:t>Разница показателей (на примере акселерометра)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43867-4E32-4E2D-8739-58246E7E28D2}" type="slidenum">
              <a:rPr lang="ru-RU" smtClean="0"/>
              <a:t>12</a:t>
            </a:fld>
            <a:endParaRPr lang="ru-RU" dirty="0"/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C165EE28-6023-432F-B697-7949E951F1C0}"/>
              </a:ext>
            </a:extLst>
          </p:cNvPr>
          <p:cNvSpPr/>
          <p:nvPr/>
        </p:nvSpPr>
        <p:spPr>
          <a:xfrm>
            <a:off x="110931" y="2309976"/>
            <a:ext cx="8922138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endParaRPr lang="ru-RU" sz="2800" dirty="0"/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B5353EF7-48B0-45DE-8630-B98A64DCC5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016" y="1196752"/>
            <a:ext cx="8820472" cy="4250349"/>
          </a:xfrm>
          <a:prstGeom prst="rect">
            <a:avLst/>
          </a:prstGeom>
          <a:ln w="19050">
            <a:solidFill>
              <a:schemeClr val="accent2">
                <a:lumMod val="75000"/>
              </a:schemeClr>
            </a:solidFill>
          </a:ln>
        </p:spPr>
      </p:pic>
      <p:sp>
        <p:nvSpPr>
          <p:cNvPr id="11" name="Объект 2">
            <a:extLst>
              <a:ext uri="{FF2B5EF4-FFF2-40B4-BE49-F238E27FC236}">
                <a16:creationId xmlns:a16="http://schemas.microsoft.com/office/drawing/2014/main" id="{4E57449C-C0AE-4986-8C67-970501D042BC}"/>
              </a:ext>
            </a:extLst>
          </p:cNvPr>
          <p:cNvSpPr txBox="1">
            <a:spLocks/>
          </p:cNvSpPr>
          <p:nvPr/>
        </p:nvSpPr>
        <p:spPr>
          <a:xfrm>
            <a:off x="169529" y="5580596"/>
            <a:ext cx="8532948" cy="102184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2400" u="sng" dirty="0"/>
              <a:t>Интерпретация</a:t>
            </a:r>
            <a:r>
              <a:rPr lang="ru-RU" sz="2400" dirty="0"/>
              <a:t>: различные виды активностей отличаются амплитудой показателей акселерометра.</a:t>
            </a: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363EB7D5-0F6A-4C35-ACA8-75BDE205E7E6}"/>
              </a:ext>
            </a:extLst>
          </p:cNvPr>
          <p:cNvSpPr/>
          <p:nvPr/>
        </p:nvSpPr>
        <p:spPr>
          <a:xfrm>
            <a:off x="899592" y="2717662"/>
            <a:ext cx="576064" cy="338554"/>
          </a:xfrm>
          <a:prstGeom prst="rect">
            <a:avLst/>
          </a:prstGeom>
          <a:ln w="19050">
            <a:solidFill>
              <a:schemeClr val="accent2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sz="1600" dirty="0">
                <a:solidFill>
                  <a:srgbClr val="303030"/>
                </a:solidFill>
              </a:rPr>
              <a:t>lying</a:t>
            </a:r>
            <a:endParaRPr lang="ru-RU" sz="1600" dirty="0"/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7EA170FC-1451-43AC-BEEE-75C2BFEE6D3F}"/>
              </a:ext>
            </a:extLst>
          </p:cNvPr>
          <p:cNvSpPr/>
          <p:nvPr/>
        </p:nvSpPr>
        <p:spPr>
          <a:xfrm>
            <a:off x="2123727" y="4653136"/>
            <a:ext cx="1796773" cy="369332"/>
          </a:xfrm>
          <a:prstGeom prst="rect">
            <a:avLst/>
          </a:prstGeom>
          <a:ln w="19050">
            <a:solidFill>
              <a:schemeClr val="accent2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dirty="0"/>
              <a:t>vacuum cleaning</a:t>
            </a:r>
            <a:endParaRPr lang="ru-RU" sz="1600" dirty="0"/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B85863D3-3DE1-4567-B2F5-9B1E3E6C0B6D}"/>
              </a:ext>
            </a:extLst>
          </p:cNvPr>
          <p:cNvSpPr/>
          <p:nvPr/>
        </p:nvSpPr>
        <p:spPr>
          <a:xfrm>
            <a:off x="3776485" y="1568698"/>
            <a:ext cx="1728192" cy="369332"/>
          </a:xfrm>
          <a:prstGeom prst="rect">
            <a:avLst/>
          </a:prstGeom>
          <a:ln w="19050">
            <a:solidFill>
              <a:schemeClr val="accent2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dirty="0"/>
              <a:t>Nordic walking</a:t>
            </a:r>
            <a:endParaRPr lang="ru-RU" sz="1600" dirty="0"/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B13FA963-C6BC-4E10-AFE9-83F6B9BCA59E}"/>
              </a:ext>
            </a:extLst>
          </p:cNvPr>
          <p:cNvSpPr/>
          <p:nvPr/>
        </p:nvSpPr>
        <p:spPr>
          <a:xfrm>
            <a:off x="4932040" y="4653136"/>
            <a:ext cx="1444838" cy="369332"/>
          </a:xfrm>
          <a:prstGeom prst="rect">
            <a:avLst/>
          </a:prstGeom>
          <a:ln w="19050">
            <a:solidFill>
              <a:schemeClr val="accent2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dirty="0"/>
              <a:t>watching TV</a:t>
            </a:r>
            <a:endParaRPr lang="ru-RU" sz="1600" dirty="0"/>
          </a:p>
        </p:txBody>
      </p:sp>
      <p:cxnSp>
        <p:nvCxnSpPr>
          <p:cNvPr id="6" name="Прямая со стрелкой 5">
            <a:extLst>
              <a:ext uri="{FF2B5EF4-FFF2-40B4-BE49-F238E27FC236}">
                <a16:creationId xmlns:a16="http://schemas.microsoft.com/office/drawing/2014/main" id="{DD8ECC3F-7063-4659-AB6B-0E2FC5CCEDD5}"/>
              </a:ext>
            </a:extLst>
          </p:cNvPr>
          <p:cNvCxnSpPr/>
          <p:nvPr/>
        </p:nvCxnSpPr>
        <p:spPr>
          <a:xfrm>
            <a:off x="1187624" y="3140968"/>
            <a:ext cx="72008" cy="360040"/>
          </a:xfrm>
          <a:prstGeom prst="straightConnector1">
            <a:avLst/>
          </a:prstGeom>
          <a:ln w="19050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Прямая со стрелкой 14">
            <a:extLst>
              <a:ext uri="{FF2B5EF4-FFF2-40B4-BE49-F238E27FC236}">
                <a16:creationId xmlns:a16="http://schemas.microsoft.com/office/drawing/2014/main" id="{DA25590A-3C5C-4130-B9F8-D991CB29FF14}"/>
              </a:ext>
            </a:extLst>
          </p:cNvPr>
          <p:cNvCxnSpPr>
            <a:cxnSpLocks/>
          </p:cNvCxnSpPr>
          <p:nvPr/>
        </p:nvCxnSpPr>
        <p:spPr>
          <a:xfrm flipH="1" flipV="1">
            <a:off x="2452081" y="4167858"/>
            <a:ext cx="463735" cy="351783"/>
          </a:xfrm>
          <a:prstGeom prst="straightConnector1">
            <a:avLst/>
          </a:prstGeom>
          <a:ln w="19050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Прямая со стрелкой 17">
            <a:extLst>
              <a:ext uri="{FF2B5EF4-FFF2-40B4-BE49-F238E27FC236}">
                <a16:creationId xmlns:a16="http://schemas.microsoft.com/office/drawing/2014/main" id="{604D9C9C-B9F2-4572-8D36-562AED5EEFA2}"/>
              </a:ext>
            </a:extLst>
          </p:cNvPr>
          <p:cNvCxnSpPr>
            <a:cxnSpLocks/>
          </p:cNvCxnSpPr>
          <p:nvPr/>
        </p:nvCxnSpPr>
        <p:spPr>
          <a:xfrm flipH="1">
            <a:off x="3707904" y="2071525"/>
            <a:ext cx="846348" cy="261610"/>
          </a:xfrm>
          <a:prstGeom prst="straightConnector1">
            <a:avLst/>
          </a:prstGeom>
          <a:ln w="19050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Прямая со стрелкой 21">
            <a:extLst>
              <a:ext uri="{FF2B5EF4-FFF2-40B4-BE49-F238E27FC236}">
                <a16:creationId xmlns:a16="http://schemas.microsoft.com/office/drawing/2014/main" id="{DB5A9022-B96A-4407-9CA7-71E2973FD597}"/>
              </a:ext>
            </a:extLst>
          </p:cNvPr>
          <p:cNvCxnSpPr>
            <a:cxnSpLocks/>
          </p:cNvCxnSpPr>
          <p:nvPr/>
        </p:nvCxnSpPr>
        <p:spPr>
          <a:xfrm flipV="1">
            <a:off x="5624842" y="4025588"/>
            <a:ext cx="315309" cy="494053"/>
          </a:xfrm>
          <a:prstGeom prst="straightConnector1">
            <a:avLst/>
          </a:prstGeom>
          <a:ln w="19050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7652210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43867-4E32-4E2D-8739-58246E7E28D2}" type="slidenum">
              <a:rPr lang="ru-RU" smtClean="0"/>
              <a:t>13</a:t>
            </a:fld>
            <a:endParaRPr lang="ru-RU" dirty="0"/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C165EE28-6023-432F-B697-7949E951F1C0}"/>
              </a:ext>
            </a:extLst>
          </p:cNvPr>
          <p:cNvSpPr/>
          <p:nvPr/>
        </p:nvSpPr>
        <p:spPr>
          <a:xfrm>
            <a:off x="110931" y="2309976"/>
            <a:ext cx="8922138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endParaRPr lang="ru-RU" sz="2800" dirty="0"/>
          </a:p>
        </p:txBody>
      </p:sp>
      <p:sp>
        <p:nvSpPr>
          <p:cNvPr id="5" name="Заголовок 4">
            <a:extLst>
              <a:ext uri="{FF2B5EF4-FFF2-40B4-BE49-F238E27FC236}">
                <a16:creationId xmlns:a16="http://schemas.microsoft.com/office/drawing/2014/main" id="{716287FB-BFBA-4229-B98A-F09DDE145F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63688" y="274638"/>
            <a:ext cx="7269381" cy="706090"/>
          </a:xfrm>
        </p:spPr>
        <p:txBody>
          <a:bodyPr>
            <a:noAutofit/>
          </a:bodyPr>
          <a:lstStyle/>
          <a:p>
            <a:r>
              <a:rPr lang="ru-RU" sz="2200" dirty="0"/>
              <a:t>Бокс-плоты по признакам с высокой дисперсией</a:t>
            </a: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8490F611-60F1-4E25-8A4B-18095891BC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9384" y="1484784"/>
            <a:ext cx="8748464" cy="3623980"/>
          </a:xfrm>
          <a:prstGeom prst="rect">
            <a:avLst/>
          </a:prstGeom>
          <a:ln w="19050">
            <a:solidFill>
              <a:schemeClr val="accent2">
                <a:lumMod val="75000"/>
              </a:schemeClr>
            </a:solidFill>
          </a:ln>
        </p:spPr>
      </p:pic>
      <p:sp>
        <p:nvSpPr>
          <p:cNvPr id="6" name="Объект 2">
            <a:extLst>
              <a:ext uri="{FF2B5EF4-FFF2-40B4-BE49-F238E27FC236}">
                <a16:creationId xmlns:a16="http://schemas.microsoft.com/office/drawing/2014/main" id="{205D1EE0-3573-44B0-B2F9-576E35706BB8}"/>
              </a:ext>
            </a:extLst>
          </p:cNvPr>
          <p:cNvSpPr txBox="1">
            <a:spLocks/>
          </p:cNvSpPr>
          <p:nvPr/>
        </p:nvSpPr>
        <p:spPr>
          <a:xfrm>
            <a:off x="189384" y="5301208"/>
            <a:ext cx="9001000" cy="52322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2400" dirty="0"/>
              <a:t>*Замечание: показаны три признака с наибольшей дисперсией.</a:t>
            </a:r>
          </a:p>
        </p:txBody>
      </p:sp>
    </p:spTree>
    <p:extLst>
      <p:ext uri="{BB962C8B-B14F-4D97-AF65-F5344CB8AC3E}">
        <p14:creationId xmlns:p14="http://schemas.microsoft.com/office/powerpoint/2010/main" val="110251852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Feature Engineering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43867-4E32-4E2D-8739-58246E7E28D2}" type="slidenum">
              <a:rPr lang="ru-RU" smtClean="0"/>
              <a:t>14</a:t>
            </a:fld>
            <a:endParaRPr lang="ru-RU" dirty="0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292E37DA-FC3C-4DA7-9721-8DC1ADE7EE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528" y="1412776"/>
            <a:ext cx="8297433" cy="4763165"/>
          </a:xfrm>
          <a:prstGeom prst="rect">
            <a:avLst/>
          </a:prstGeom>
          <a:ln w="19050">
            <a:solidFill>
              <a:schemeClr val="accent2">
                <a:lumMod val="75000"/>
              </a:schemeClr>
            </a:solidFill>
          </a:ln>
        </p:spPr>
      </p:pic>
      <p:cxnSp>
        <p:nvCxnSpPr>
          <p:cNvPr id="15" name="Прямая со стрелкой 14">
            <a:extLst>
              <a:ext uri="{FF2B5EF4-FFF2-40B4-BE49-F238E27FC236}">
                <a16:creationId xmlns:a16="http://schemas.microsoft.com/office/drawing/2014/main" id="{3D996298-3371-44DC-A96B-137DE5478AF6}"/>
              </a:ext>
            </a:extLst>
          </p:cNvPr>
          <p:cNvCxnSpPr>
            <a:cxnSpLocks/>
          </p:cNvCxnSpPr>
          <p:nvPr/>
        </p:nvCxnSpPr>
        <p:spPr>
          <a:xfrm flipV="1">
            <a:off x="438081" y="5013176"/>
            <a:ext cx="216024" cy="4456"/>
          </a:xfrm>
          <a:prstGeom prst="straightConnector1">
            <a:avLst/>
          </a:prstGeom>
          <a:ln w="38100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Прямая со стрелкой 17">
            <a:extLst>
              <a:ext uri="{FF2B5EF4-FFF2-40B4-BE49-F238E27FC236}">
                <a16:creationId xmlns:a16="http://schemas.microsoft.com/office/drawing/2014/main" id="{BEF32B39-9E35-4128-AC5F-514EE9873C41}"/>
              </a:ext>
            </a:extLst>
          </p:cNvPr>
          <p:cNvCxnSpPr>
            <a:cxnSpLocks/>
          </p:cNvCxnSpPr>
          <p:nvPr/>
        </p:nvCxnSpPr>
        <p:spPr>
          <a:xfrm flipV="1">
            <a:off x="438081" y="3933056"/>
            <a:ext cx="216024" cy="4456"/>
          </a:xfrm>
          <a:prstGeom prst="straightConnector1">
            <a:avLst/>
          </a:prstGeom>
          <a:ln w="38100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Прямая со стрелкой 18">
            <a:extLst>
              <a:ext uri="{FF2B5EF4-FFF2-40B4-BE49-F238E27FC236}">
                <a16:creationId xmlns:a16="http://schemas.microsoft.com/office/drawing/2014/main" id="{8BB1AC4F-7F68-405F-AB71-EA9D785C4C53}"/>
              </a:ext>
            </a:extLst>
          </p:cNvPr>
          <p:cNvCxnSpPr>
            <a:cxnSpLocks/>
          </p:cNvCxnSpPr>
          <p:nvPr/>
        </p:nvCxnSpPr>
        <p:spPr>
          <a:xfrm flipV="1">
            <a:off x="438081" y="2829348"/>
            <a:ext cx="216024" cy="4456"/>
          </a:xfrm>
          <a:prstGeom prst="straightConnector1">
            <a:avLst/>
          </a:prstGeom>
          <a:ln w="38100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Прямая со стрелкой 19">
            <a:extLst>
              <a:ext uri="{FF2B5EF4-FFF2-40B4-BE49-F238E27FC236}">
                <a16:creationId xmlns:a16="http://schemas.microsoft.com/office/drawing/2014/main" id="{82A01660-2174-41BA-885A-FDE773948A0B}"/>
              </a:ext>
            </a:extLst>
          </p:cNvPr>
          <p:cNvCxnSpPr>
            <a:cxnSpLocks/>
          </p:cNvCxnSpPr>
          <p:nvPr/>
        </p:nvCxnSpPr>
        <p:spPr>
          <a:xfrm flipV="1">
            <a:off x="438081" y="1753684"/>
            <a:ext cx="216024" cy="4456"/>
          </a:xfrm>
          <a:prstGeom prst="straightConnector1">
            <a:avLst/>
          </a:prstGeom>
          <a:ln w="38100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Прямая со стрелкой 20">
            <a:extLst>
              <a:ext uri="{FF2B5EF4-FFF2-40B4-BE49-F238E27FC236}">
                <a16:creationId xmlns:a16="http://schemas.microsoft.com/office/drawing/2014/main" id="{3DB0AF36-5507-4760-89C6-F9AEA01779C9}"/>
              </a:ext>
            </a:extLst>
          </p:cNvPr>
          <p:cNvCxnSpPr>
            <a:cxnSpLocks/>
          </p:cNvCxnSpPr>
          <p:nvPr/>
        </p:nvCxnSpPr>
        <p:spPr>
          <a:xfrm flipV="1">
            <a:off x="438081" y="6093296"/>
            <a:ext cx="216024" cy="4456"/>
          </a:xfrm>
          <a:prstGeom prst="straightConnector1">
            <a:avLst/>
          </a:prstGeom>
          <a:ln w="38100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7512871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43867-4E32-4E2D-8739-58246E7E28D2}" type="slidenum">
              <a:rPr lang="ru-RU" smtClean="0"/>
              <a:t>15</a:t>
            </a:fld>
            <a:endParaRPr lang="ru-RU" dirty="0"/>
          </a:p>
        </p:txBody>
      </p:sp>
      <p:sp>
        <p:nvSpPr>
          <p:cNvPr id="5" name="Заголовок 4">
            <a:extLst>
              <a:ext uri="{FF2B5EF4-FFF2-40B4-BE49-F238E27FC236}">
                <a16:creationId xmlns:a16="http://schemas.microsoft.com/office/drawing/2014/main" id="{E05D2748-828F-4A4A-9763-F33D5DC264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Разделение на </a:t>
            </a:r>
            <a:r>
              <a:rPr lang="en-US" dirty="0"/>
              <a:t>train </a:t>
            </a:r>
            <a:r>
              <a:rPr lang="ru-RU" dirty="0"/>
              <a:t>и </a:t>
            </a:r>
            <a:r>
              <a:rPr lang="en-US" dirty="0"/>
              <a:t>test</a:t>
            </a:r>
            <a:endParaRPr lang="ru-RU" dirty="0"/>
          </a:p>
        </p:txBody>
      </p:sp>
      <p:sp>
        <p:nvSpPr>
          <p:cNvPr id="15" name="Объект 2">
            <a:extLst>
              <a:ext uri="{FF2B5EF4-FFF2-40B4-BE49-F238E27FC236}">
                <a16:creationId xmlns:a16="http://schemas.microsoft.com/office/drawing/2014/main" id="{28A7E49B-C1EF-48E2-8FC9-B19F71495ED7}"/>
              </a:ext>
            </a:extLst>
          </p:cNvPr>
          <p:cNvSpPr txBox="1">
            <a:spLocks/>
          </p:cNvSpPr>
          <p:nvPr/>
        </p:nvSpPr>
        <p:spPr>
          <a:xfrm>
            <a:off x="86001" y="1314807"/>
            <a:ext cx="9001000" cy="216633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Aft>
                <a:spcPts val="600"/>
              </a:spcAft>
              <a:buNone/>
            </a:pPr>
            <a:r>
              <a:rPr lang="ru-RU" sz="2400" u="sng" dirty="0"/>
              <a:t>Задачи:</a:t>
            </a:r>
          </a:p>
          <a:p>
            <a:r>
              <a:rPr lang="ru-RU" sz="2400" dirty="0"/>
              <a:t>Сохранить временную структуру;</a:t>
            </a:r>
          </a:p>
          <a:p>
            <a:r>
              <a:rPr lang="ru-RU" sz="2400" dirty="0"/>
              <a:t>Препятствовать «смешиванию» людей;</a:t>
            </a:r>
          </a:p>
          <a:p>
            <a:r>
              <a:rPr lang="ru-RU" sz="2400" dirty="0"/>
              <a:t>Сохранить все виды активностей на </a:t>
            </a:r>
            <a:r>
              <a:rPr lang="en-US" sz="2400" dirty="0"/>
              <a:t>train</a:t>
            </a:r>
            <a:r>
              <a:rPr lang="ru-RU" sz="2400" dirty="0"/>
              <a:t> и на </a:t>
            </a:r>
            <a:r>
              <a:rPr lang="en-US" sz="2400" dirty="0"/>
              <a:t>test </a:t>
            </a:r>
            <a:r>
              <a:rPr lang="ru-RU" sz="2400" dirty="0"/>
              <a:t>(проблема: не у всех участников представлены все типы активностей)</a:t>
            </a:r>
          </a:p>
        </p:txBody>
      </p:sp>
      <p:sp>
        <p:nvSpPr>
          <p:cNvPr id="16" name="Объект 2">
            <a:extLst>
              <a:ext uri="{FF2B5EF4-FFF2-40B4-BE49-F238E27FC236}">
                <a16:creationId xmlns:a16="http://schemas.microsoft.com/office/drawing/2014/main" id="{BD685BA9-7E76-4969-948E-F43BEB45069D}"/>
              </a:ext>
            </a:extLst>
          </p:cNvPr>
          <p:cNvSpPr txBox="1">
            <a:spLocks/>
          </p:cNvSpPr>
          <p:nvPr/>
        </p:nvSpPr>
        <p:spPr>
          <a:xfrm>
            <a:off x="143000" y="3815220"/>
            <a:ext cx="9001000" cy="256610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2400" u="sng" dirty="0"/>
              <a:t>Выбранное решение:</a:t>
            </a:r>
            <a:r>
              <a:rPr lang="ru-RU" sz="2400" dirty="0"/>
              <a:t> </a:t>
            </a:r>
          </a:p>
          <a:p>
            <a:r>
              <a:rPr lang="ru-RU" sz="2400" dirty="0"/>
              <a:t>Создание полного датасета </a:t>
            </a:r>
            <a:r>
              <a:rPr lang="en-US" sz="2400" dirty="0"/>
              <a:t>df_all </a:t>
            </a:r>
            <a:r>
              <a:rPr lang="ru-RU" sz="2400" dirty="0"/>
              <a:t>склеиванием датасетов по отдельным </a:t>
            </a:r>
            <a:r>
              <a:rPr lang="en-US" sz="2400" dirty="0"/>
              <a:t>subject.</a:t>
            </a:r>
            <a:endParaRPr lang="ru-RU" sz="2400" dirty="0"/>
          </a:p>
          <a:p>
            <a:r>
              <a:rPr lang="ru-RU" sz="2400" dirty="0"/>
              <a:t>Выделение последовательностей одинаковых меток активности: первые 80% попадают в </a:t>
            </a:r>
            <a:r>
              <a:rPr lang="en-US" sz="2400" dirty="0"/>
              <a:t>train, </a:t>
            </a:r>
            <a:r>
              <a:rPr lang="ru-RU" sz="2400" dirty="0"/>
              <a:t>20%</a:t>
            </a:r>
            <a:r>
              <a:rPr lang="en-US" sz="2400" dirty="0"/>
              <a:t> - </a:t>
            </a:r>
            <a:r>
              <a:rPr lang="ru-RU" sz="2400" dirty="0"/>
              <a:t>в </a:t>
            </a:r>
            <a:r>
              <a:rPr lang="en-US" sz="2400" dirty="0"/>
              <a:t>test.</a:t>
            </a:r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149389950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43867-4E32-4E2D-8739-58246E7E28D2}" type="slidenum">
              <a:rPr lang="ru-RU" smtClean="0"/>
              <a:t>16</a:t>
            </a:fld>
            <a:endParaRPr lang="ru-RU" dirty="0"/>
          </a:p>
        </p:txBody>
      </p:sp>
      <p:sp>
        <p:nvSpPr>
          <p:cNvPr id="6" name="Заголовок 5">
            <a:extLst>
              <a:ext uri="{FF2B5EF4-FFF2-40B4-BE49-F238E27FC236}">
                <a16:creationId xmlns:a16="http://schemas.microsoft.com/office/drawing/2014/main" id="{C5508BEF-9DE7-494E-AF9C-27B6E92DD0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Эволюция методов разделения</a:t>
            </a:r>
          </a:p>
        </p:txBody>
      </p:sp>
      <p:graphicFrame>
        <p:nvGraphicFramePr>
          <p:cNvPr id="9" name="Схема 8">
            <a:extLst>
              <a:ext uri="{FF2B5EF4-FFF2-40B4-BE49-F238E27FC236}">
                <a16:creationId xmlns:a16="http://schemas.microsoft.com/office/drawing/2014/main" id="{11D9F4D5-227F-4B37-8780-DBAE5A9B826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711542211"/>
              </p:ext>
            </p:extLst>
          </p:nvPr>
        </p:nvGraphicFramePr>
        <p:xfrm>
          <a:off x="395536" y="1268760"/>
          <a:ext cx="8237512" cy="505200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2416079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43867-4E32-4E2D-8739-58246E7E28D2}" type="slidenum">
              <a:rPr lang="ru-RU" smtClean="0"/>
              <a:t>17</a:t>
            </a:fld>
            <a:endParaRPr lang="ru-RU" dirty="0"/>
          </a:p>
        </p:txBody>
      </p:sp>
      <p:sp>
        <p:nvSpPr>
          <p:cNvPr id="6" name="Заголовок 5">
            <a:extLst>
              <a:ext uri="{FF2B5EF4-FFF2-40B4-BE49-F238E27FC236}">
                <a16:creationId xmlns:a16="http://schemas.microsoft.com/office/drawing/2014/main" id="{8CE17167-FE14-4428-A993-CEBBCEDA41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Методика проведения обучения</a:t>
            </a:r>
          </a:p>
        </p:txBody>
      </p:sp>
      <p:sp>
        <p:nvSpPr>
          <p:cNvPr id="5" name="Объект 2">
            <a:extLst>
              <a:ext uri="{FF2B5EF4-FFF2-40B4-BE49-F238E27FC236}">
                <a16:creationId xmlns:a16="http://schemas.microsoft.com/office/drawing/2014/main" id="{C9B26DA0-EF8E-4D65-BA70-A2BD44A191B1}"/>
              </a:ext>
            </a:extLst>
          </p:cNvPr>
          <p:cNvSpPr txBox="1">
            <a:spLocks/>
          </p:cNvSpPr>
          <p:nvPr/>
        </p:nvSpPr>
        <p:spPr>
          <a:xfrm>
            <a:off x="190385" y="1007302"/>
            <a:ext cx="9001000" cy="551804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Aft>
                <a:spcPts val="600"/>
              </a:spcAft>
              <a:buNone/>
            </a:pPr>
            <a:r>
              <a:rPr lang="ru-RU" sz="2400" dirty="0"/>
              <a:t>Для экспериментов использовались следующие модели (и ансамбли моделей):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400" dirty="0"/>
              <a:t>XGBoostClassifier</a:t>
            </a:r>
            <a:r>
              <a:rPr lang="ru-RU" sz="2400" dirty="0"/>
              <a:t>;</a:t>
            </a:r>
            <a:endParaRPr lang="en-US" sz="2400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400" dirty="0"/>
              <a:t>Random Forest</a:t>
            </a:r>
            <a:r>
              <a:rPr lang="ru-RU" sz="2400" dirty="0"/>
              <a:t>;</a:t>
            </a:r>
            <a:endParaRPr lang="en-US" sz="2400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ru-RU" sz="2400" dirty="0"/>
              <a:t>Логистическая регрессия;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400" dirty="0"/>
              <a:t>CatBoost</a:t>
            </a:r>
            <a:r>
              <a:rPr lang="ru-RU" sz="2400" dirty="0"/>
              <a:t>;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ru-RU" sz="2400" dirty="0"/>
              <a:t>Доп. – </a:t>
            </a:r>
            <a:r>
              <a:rPr lang="en-US" sz="2400" dirty="0"/>
              <a:t>voting classifier</a:t>
            </a:r>
            <a:endParaRPr lang="ru-RU" sz="2400" dirty="0"/>
          </a:p>
          <a:p>
            <a:pPr marL="57150" indent="0">
              <a:spcBef>
                <a:spcPts val="600"/>
              </a:spcBef>
              <a:buNone/>
            </a:pPr>
            <a:endParaRPr lang="ru-RU" sz="300" dirty="0"/>
          </a:p>
          <a:p>
            <a:pPr marL="57150" indent="0">
              <a:spcBef>
                <a:spcPts val="600"/>
              </a:spcBef>
              <a:buNone/>
            </a:pPr>
            <a:r>
              <a:rPr lang="ru-RU" sz="2400" u="sng" dirty="0"/>
              <a:t>Второй этап</a:t>
            </a:r>
            <a:r>
              <a:rPr lang="ru-RU" sz="2400" dirty="0"/>
              <a:t> экспериментов проводился с «надстройкой» над классическими моделями в виде </a:t>
            </a:r>
            <a:r>
              <a:rPr lang="en-US" sz="2400" u="sng" dirty="0"/>
              <a:t>HMM</a:t>
            </a:r>
            <a:r>
              <a:rPr lang="en-US" sz="2400" dirty="0"/>
              <a:t> </a:t>
            </a:r>
            <a:r>
              <a:rPr lang="ru-RU" sz="2400" dirty="0"/>
              <a:t>(скрытые марковские цепи).</a:t>
            </a:r>
          </a:p>
          <a:p>
            <a:pPr marL="57150" indent="0">
              <a:buNone/>
            </a:pPr>
            <a:r>
              <a:rPr lang="ru-RU" sz="2400" dirty="0"/>
              <a:t>Далее приведены результаты моделей </a:t>
            </a:r>
            <a:r>
              <a:rPr lang="ru-RU" sz="2400" u="sng" dirty="0"/>
              <a:t>на датасете</a:t>
            </a:r>
            <a:r>
              <a:rPr lang="ru-RU" sz="2400" dirty="0"/>
              <a:t> с предобработанными данными, </a:t>
            </a:r>
            <a:r>
              <a:rPr lang="ru-RU" sz="2400" u="sng" dirty="0"/>
              <a:t>разделенным последним методом</a:t>
            </a:r>
            <a:r>
              <a:rPr lang="ru-RU" sz="24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17516410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43867-4E32-4E2D-8739-58246E7E28D2}" type="slidenum">
              <a:rPr lang="ru-RU" smtClean="0"/>
              <a:t>18</a:t>
            </a:fld>
            <a:endParaRPr lang="ru-RU" dirty="0"/>
          </a:p>
        </p:txBody>
      </p:sp>
      <p:sp>
        <p:nvSpPr>
          <p:cNvPr id="6" name="Заголовок 5">
            <a:extLst>
              <a:ext uri="{FF2B5EF4-FFF2-40B4-BE49-F238E27FC236}">
                <a16:creationId xmlns:a16="http://schemas.microsoft.com/office/drawing/2014/main" id="{8CE17167-FE14-4428-A993-CEBBCEDA41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XGB classifier </a:t>
            </a:r>
            <a:r>
              <a:rPr lang="ru-RU" dirty="0"/>
              <a:t>и </a:t>
            </a:r>
            <a:r>
              <a:rPr lang="en-US" dirty="0"/>
              <a:t>random forest</a:t>
            </a:r>
            <a:endParaRPr lang="ru-RU" dirty="0"/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90E44087-6D34-4E17-9E85-2337AA0D1E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504" y="1392149"/>
            <a:ext cx="4322285" cy="4575050"/>
          </a:xfrm>
          <a:prstGeom prst="rect">
            <a:avLst/>
          </a:prstGeom>
          <a:ln w="19050">
            <a:solidFill>
              <a:srgbClr val="9F2B22"/>
            </a:solidFill>
          </a:ln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8C68E8AB-607D-4081-9378-28775F1188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38965" y="1391058"/>
            <a:ext cx="4427188" cy="4575050"/>
          </a:xfrm>
          <a:prstGeom prst="rect">
            <a:avLst/>
          </a:prstGeom>
          <a:ln w="19050">
            <a:solidFill>
              <a:srgbClr val="9F2B22"/>
            </a:solidFill>
          </a:ln>
        </p:spPr>
      </p:pic>
      <p:cxnSp>
        <p:nvCxnSpPr>
          <p:cNvPr id="10" name="Прямая со стрелкой 9">
            <a:extLst>
              <a:ext uri="{FF2B5EF4-FFF2-40B4-BE49-F238E27FC236}">
                <a16:creationId xmlns:a16="http://schemas.microsoft.com/office/drawing/2014/main" id="{3AB4AD89-B8E8-4566-883E-8B71A0BCC3F2}"/>
              </a:ext>
            </a:extLst>
          </p:cNvPr>
          <p:cNvCxnSpPr/>
          <p:nvPr/>
        </p:nvCxnSpPr>
        <p:spPr>
          <a:xfrm>
            <a:off x="8100392" y="1988840"/>
            <a:ext cx="0" cy="14401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Прямая со стрелкой 10">
            <a:extLst>
              <a:ext uri="{FF2B5EF4-FFF2-40B4-BE49-F238E27FC236}">
                <a16:creationId xmlns:a16="http://schemas.microsoft.com/office/drawing/2014/main" id="{D9860415-BB37-4D3E-8D26-173BA1117A89}"/>
              </a:ext>
            </a:extLst>
          </p:cNvPr>
          <p:cNvCxnSpPr/>
          <p:nvPr/>
        </p:nvCxnSpPr>
        <p:spPr>
          <a:xfrm>
            <a:off x="8100392" y="2141240"/>
            <a:ext cx="0" cy="14401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Прямая со стрелкой 11">
            <a:extLst>
              <a:ext uri="{FF2B5EF4-FFF2-40B4-BE49-F238E27FC236}">
                <a16:creationId xmlns:a16="http://schemas.microsoft.com/office/drawing/2014/main" id="{FD6B9025-6AD6-4220-A2B9-A04650F7A4FC}"/>
              </a:ext>
            </a:extLst>
          </p:cNvPr>
          <p:cNvCxnSpPr/>
          <p:nvPr/>
        </p:nvCxnSpPr>
        <p:spPr>
          <a:xfrm>
            <a:off x="8100392" y="2348880"/>
            <a:ext cx="0" cy="14401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Прямая со стрелкой 12">
            <a:extLst>
              <a:ext uri="{FF2B5EF4-FFF2-40B4-BE49-F238E27FC236}">
                <a16:creationId xmlns:a16="http://schemas.microsoft.com/office/drawing/2014/main" id="{09AF3600-8D88-4645-A4A4-3D8EB505F389}"/>
              </a:ext>
            </a:extLst>
          </p:cNvPr>
          <p:cNvCxnSpPr/>
          <p:nvPr/>
        </p:nvCxnSpPr>
        <p:spPr>
          <a:xfrm>
            <a:off x="8100392" y="2501280"/>
            <a:ext cx="0" cy="14401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Прямая со стрелкой 13">
            <a:extLst>
              <a:ext uri="{FF2B5EF4-FFF2-40B4-BE49-F238E27FC236}">
                <a16:creationId xmlns:a16="http://schemas.microsoft.com/office/drawing/2014/main" id="{D7BFE31B-CDC4-4FAC-998B-44CACC3848D9}"/>
              </a:ext>
            </a:extLst>
          </p:cNvPr>
          <p:cNvCxnSpPr/>
          <p:nvPr/>
        </p:nvCxnSpPr>
        <p:spPr>
          <a:xfrm>
            <a:off x="8100392" y="2653680"/>
            <a:ext cx="0" cy="14401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Прямая со стрелкой 14">
            <a:extLst>
              <a:ext uri="{FF2B5EF4-FFF2-40B4-BE49-F238E27FC236}">
                <a16:creationId xmlns:a16="http://schemas.microsoft.com/office/drawing/2014/main" id="{13DE3A76-7EF8-473E-BD0D-132B969570E8}"/>
              </a:ext>
            </a:extLst>
          </p:cNvPr>
          <p:cNvCxnSpPr/>
          <p:nvPr/>
        </p:nvCxnSpPr>
        <p:spPr>
          <a:xfrm>
            <a:off x="8100392" y="2852936"/>
            <a:ext cx="0" cy="14401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Прямая со стрелкой 15">
            <a:extLst>
              <a:ext uri="{FF2B5EF4-FFF2-40B4-BE49-F238E27FC236}">
                <a16:creationId xmlns:a16="http://schemas.microsoft.com/office/drawing/2014/main" id="{9323674A-4D5E-4A9B-A2AF-B0504BA27B81}"/>
              </a:ext>
            </a:extLst>
          </p:cNvPr>
          <p:cNvCxnSpPr/>
          <p:nvPr/>
        </p:nvCxnSpPr>
        <p:spPr>
          <a:xfrm>
            <a:off x="8100392" y="2996952"/>
            <a:ext cx="0" cy="14401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Прямая со стрелкой 16">
            <a:extLst>
              <a:ext uri="{FF2B5EF4-FFF2-40B4-BE49-F238E27FC236}">
                <a16:creationId xmlns:a16="http://schemas.microsoft.com/office/drawing/2014/main" id="{03B77E13-BA4E-44D9-9DF3-462B554A49D0}"/>
              </a:ext>
            </a:extLst>
          </p:cNvPr>
          <p:cNvCxnSpPr/>
          <p:nvPr/>
        </p:nvCxnSpPr>
        <p:spPr>
          <a:xfrm>
            <a:off x="8100392" y="3149352"/>
            <a:ext cx="0" cy="14401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Прямая со стрелкой 17">
            <a:extLst>
              <a:ext uri="{FF2B5EF4-FFF2-40B4-BE49-F238E27FC236}">
                <a16:creationId xmlns:a16="http://schemas.microsoft.com/office/drawing/2014/main" id="{D49669A6-A1A8-4234-A55E-84E90E1CED04}"/>
              </a:ext>
            </a:extLst>
          </p:cNvPr>
          <p:cNvCxnSpPr/>
          <p:nvPr/>
        </p:nvCxnSpPr>
        <p:spPr>
          <a:xfrm>
            <a:off x="8100392" y="3573016"/>
            <a:ext cx="0" cy="14401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Прямая со стрелкой 18">
            <a:extLst>
              <a:ext uri="{FF2B5EF4-FFF2-40B4-BE49-F238E27FC236}">
                <a16:creationId xmlns:a16="http://schemas.microsoft.com/office/drawing/2014/main" id="{7BA5B266-511F-4968-BEF0-57E055921923}"/>
              </a:ext>
            </a:extLst>
          </p:cNvPr>
          <p:cNvCxnSpPr/>
          <p:nvPr/>
        </p:nvCxnSpPr>
        <p:spPr>
          <a:xfrm>
            <a:off x="8100392" y="3725416"/>
            <a:ext cx="0" cy="14401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Прямая со стрелкой 19">
            <a:extLst>
              <a:ext uri="{FF2B5EF4-FFF2-40B4-BE49-F238E27FC236}">
                <a16:creationId xmlns:a16="http://schemas.microsoft.com/office/drawing/2014/main" id="{5811F9AE-97B6-42F8-8D98-A516B25CDC9D}"/>
              </a:ext>
            </a:extLst>
          </p:cNvPr>
          <p:cNvCxnSpPr/>
          <p:nvPr/>
        </p:nvCxnSpPr>
        <p:spPr>
          <a:xfrm>
            <a:off x="8100392" y="3877816"/>
            <a:ext cx="0" cy="14401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Прямая со стрелкой 20">
            <a:extLst>
              <a:ext uri="{FF2B5EF4-FFF2-40B4-BE49-F238E27FC236}">
                <a16:creationId xmlns:a16="http://schemas.microsoft.com/office/drawing/2014/main" id="{8698DBF1-A2DB-4D45-87D2-DAF761860091}"/>
              </a:ext>
            </a:extLst>
          </p:cNvPr>
          <p:cNvCxnSpPr/>
          <p:nvPr/>
        </p:nvCxnSpPr>
        <p:spPr>
          <a:xfrm>
            <a:off x="8100392" y="4030216"/>
            <a:ext cx="0" cy="14401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Прямая со стрелкой 21">
            <a:extLst>
              <a:ext uri="{FF2B5EF4-FFF2-40B4-BE49-F238E27FC236}">
                <a16:creationId xmlns:a16="http://schemas.microsoft.com/office/drawing/2014/main" id="{7DC8BF77-7913-421E-80D0-D8637662A0AB}"/>
              </a:ext>
            </a:extLst>
          </p:cNvPr>
          <p:cNvCxnSpPr/>
          <p:nvPr/>
        </p:nvCxnSpPr>
        <p:spPr>
          <a:xfrm>
            <a:off x="3563888" y="3356992"/>
            <a:ext cx="0" cy="14401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Прямая со стрелкой 22">
            <a:extLst>
              <a:ext uri="{FF2B5EF4-FFF2-40B4-BE49-F238E27FC236}">
                <a16:creationId xmlns:a16="http://schemas.microsoft.com/office/drawing/2014/main" id="{40BDFDF5-C157-400F-98A1-943D8B763BC9}"/>
              </a:ext>
            </a:extLst>
          </p:cNvPr>
          <p:cNvCxnSpPr/>
          <p:nvPr/>
        </p:nvCxnSpPr>
        <p:spPr>
          <a:xfrm>
            <a:off x="3563888" y="4182616"/>
            <a:ext cx="0" cy="14401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Прямая со стрелкой 23">
            <a:extLst>
              <a:ext uri="{FF2B5EF4-FFF2-40B4-BE49-F238E27FC236}">
                <a16:creationId xmlns:a16="http://schemas.microsoft.com/office/drawing/2014/main" id="{8A846ABA-251F-4D02-A5BE-72F5389D607A}"/>
              </a:ext>
            </a:extLst>
          </p:cNvPr>
          <p:cNvCxnSpPr/>
          <p:nvPr/>
        </p:nvCxnSpPr>
        <p:spPr>
          <a:xfrm>
            <a:off x="8100392" y="4437112"/>
            <a:ext cx="0" cy="14401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Прямая со стрелкой 24">
            <a:extLst>
              <a:ext uri="{FF2B5EF4-FFF2-40B4-BE49-F238E27FC236}">
                <a16:creationId xmlns:a16="http://schemas.microsoft.com/office/drawing/2014/main" id="{20D3734C-B9D4-4D15-8BCE-6571E74A1DA3}"/>
              </a:ext>
            </a:extLst>
          </p:cNvPr>
          <p:cNvCxnSpPr/>
          <p:nvPr/>
        </p:nvCxnSpPr>
        <p:spPr>
          <a:xfrm>
            <a:off x="8100392" y="4589512"/>
            <a:ext cx="0" cy="14401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Прямая со стрелкой 25">
            <a:extLst>
              <a:ext uri="{FF2B5EF4-FFF2-40B4-BE49-F238E27FC236}">
                <a16:creationId xmlns:a16="http://schemas.microsoft.com/office/drawing/2014/main" id="{07EE4426-0351-4558-BAB7-9572567414B2}"/>
              </a:ext>
            </a:extLst>
          </p:cNvPr>
          <p:cNvCxnSpPr/>
          <p:nvPr/>
        </p:nvCxnSpPr>
        <p:spPr>
          <a:xfrm>
            <a:off x="3563888" y="4725144"/>
            <a:ext cx="0" cy="14401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Прямая со стрелкой 26">
            <a:extLst>
              <a:ext uri="{FF2B5EF4-FFF2-40B4-BE49-F238E27FC236}">
                <a16:creationId xmlns:a16="http://schemas.microsoft.com/office/drawing/2014/main" id="{9BB9DC81-D9CF-412C-B811-4C82C9287615}"/>
              </a:ext>
            </a:extLst>
          </p:cNvPr>
          <p:cNvCxnSpPr/>
          <p:nvPr/>
        </p:nvCxnSpPr>
        <p:spPr>
          <a:xfrm>
            <a:off x="3563888" y="4877544"/>
            <a:ext cx="0" cy="14401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Прямая со стрелкой 32">
            <a:extLst>
              <a:ext uri="{FF2B5EF4-FFF2-40B4-BE49-F238E27FC236}">
                <a16:creationId xmlns:a16="http://schemas.microsoft.com/office/drawing/2014/main" id="{FB46301C-1F03-4734-854A-DA5D2B0D162A}"/>
              </a:ext>
            </a:extLst>
          </p:cNvPr>
          <p:cNvCxnSpPr>
            <a:cxnSpLocks/>
          </p:cNvCxnSpPr>
          <p:nvPr/>
        </p:nvCxnSpPr>
        <p:spPr>
          <a:xfrm flipV="1">
            <a:off x="3563888" y="4509120"/>
            <a:ext cx="0" cy="144016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Прямая со стрелкой 33">
            <a:extLst>
              <a:ext uri="{FF2B5EF4-FFF2-40B4-BE49-F238E27FC236}">
                <a16:creationId xmlns:a16="http://schemas.microsoft.com/office/drawing/2014/main" id="{83B56487-0E7D-42D0-93BA-FDF324B0199D}"/>
              </a:ext>
            </a:extLst>
          </p:cNvPr>
          <p:cNvCxnSpPr>
            <a:cxnSpLocks/>
          </p:cNvCxnSpPr>
          <p:nvPr/>
        </p:nvCxnSpPr>
        <p:spPr>
          <a:xfrm flipV="1">
            <a:off x="3563888" y="4365104"/>
            <a:ext cx="0" cy="144016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Прямая со стрелкой 34">
            <a:extLst>
              <a:ext uri="{FF2B5EF4-FFF2-40B4-BE49-F238E27FC236}">
                <a16:creationId xmlns:a16="http://schemas.microsoft.com/office/drawing/2014/main" id="{44D99527-C961-4B55-B5AF-CA5DCB74EF00}"/>
              </a:ext>
            </a:extLst>
          </p:cNvPr>
          <p:cNvCxnSpPr>
            <a:cxnSpLocks/>
          </p:cNvCxnSpPr>
          <p:nvPr/>
        </p:nvCxnSpPr>
        <p:spPr>
          <a:xfrm flipV="1">
            <a:off x="3563888" y="4005064"/>
            <a:ext cx="0" cy="144016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Прямая со стрелкой 35">
            <a:extLst>
              <a:ext uri="{FF2B5EF4-FFF2-40B4-BE49-F238E27FC236}">
                <a16:creationId xmlns:a16="http://schemas.microsoft.com/office/drawing/2014/main" id="{68FF76E6-514C-42AF-8B0A-9692D73E0D12}"/>
              </a:ext>
            </a:extLst>
          </p:cNvPr>
          <p:cNvCxnSpPr>
            <a:cxnSpLocks/>
          </p:cNvCxnSpPr>
          <p:nvPr/>
        </p:nvCxnSpPr>
        <p:spPr>
          <a:xfrm flipV="1">
            <a:off x="3563888" y="3861048"/>
            <a:ext cx="0" cy="144016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Прямая со стрелкой 36">
            <a:extLst>
              <a:ext uri="{FF2B5EF4-FFF2-40B4-BE49-F238E27FC236}">
                <a16:creationId xmlns:a16="http://schemas.microsoft.com/office/drawing/2014/main" id="{4BE396F8-F220-4AA4-8070-9AD3601EA76F}"/>
              </a:ext>
            </a:extLst>
          </p:cNvPr>
          <p:cNvCxnSpPr>
            <a:cxnSpLocks/>
          </p:cNvCxnSpPr>
          <p:nvPr/>
        </p:nvCxnSpPr>
        <p:spPr>
          <a:xfrm flipV="1">
            <a:off x="3563888" y="3717032"/>
            <a:ext cx="0" cy="144016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Прямая со стрелкой 37">
            <a:extLst>
              <a:ext uri="{FF2B5EF4-FFF2-40B4-BE49-F238E27FC236}">
                <a16:creationId xmlns:a16="http://schemas.microsoft.com/office/drawing/2014/main" id="{E2B33B44-9E9D-41DA-8CC1-D3B8100E12E0}"/>
              </a:ext>
            </a:extLst>
          </p:cNvPr>
          <p:cNvCxnSpPr>
            <a:cxnSpLocks/>
          </p:cNvCxnSpPr>
          <p:nvPr/>
        </p:nvCxnSpPr>
        <p:spPr>
          <a:xfrm flipV="1">
            <a:off x="3563888" y="3501008"/>
            <a:ext cx="0" cy="144016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Прямая со стрелкой 38">
            <a:extLst>
              <a:ext uri="{FF2B5EF4-FFF2-40B4-BE49-F238E27FC236}">
                <a16:creationId xmlns:a16="http://schemas.microsoft.com/office/drawing/2014/main" id="{E39D6F10-F27E-4396-A464-7B8F87509AFD}"/>
              </a:ext>
            </a:extLst>
          </p:cNvPr>
          <p:cNvCxnSpPr>
            <a:cxnSpLocks/>
          </p:cNvCxnSpPr>
          <p:nvPr/>
        </p:nvCxnSpPr>
        <p:spPr>
          <a:xfrm flipV="1">
            <a:off x="3563888" y="3212976"/>
            <a:ext cx="0" cy="144016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Прямая со стрелкой 39">
            <a:extLst>
              <a:ext uri="{FF2B5EF4-FFF2-40B4-BE49-F238E27FC236}">
                <a16:creationId xmlns:a16="http://schemas.microsoft.com/office/drawing/2014/main" id="{C12E5C3F-ED4C-412A-BAE8-54807FFD5773}"/>
              </a:ext>
            </a:extLst>
          </p:cNvPr>
          <p:cNvCxnSpPr>
            <a:cxnSpLocks/>
          </p:cNvCxnSpPr>
          <p:nvPr/>
        </p:nvCxnSpPr>
        <p:spPr>
          <a:xfrm flipV="1">
            <a:off x="3563888" y="2996952"/>
            <a:ext cx="0" cy="144016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Прямая со стрелкой 40">
            <a:extLst>
              <a:ext uri="{FF2B5EF4-FFF2-40B4-BE49-F238E27FC236}">
                <a16:creationId xmlns:a16="http://schemas.microsoft.com/office/drawing/2014/main" id="{667DAAA0-E881-4E6D-865E-32DF82D574B4}"/>
              </a:ext>
            </a:extLst>
          </p:cNvPr>
          <p:cNvCxnSpPr>
            <a:cxnSpLocks/>
          </p:cNvCxnSpPr>
          <p:nvPr/>
        </p:nvCxnSpPr>
        <p:spPr>
          <a:xfrm flipV="1">
            <a:off x="3563888" y="2780928"/>
            <a:ext cx="0" cy="144016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Прямая со стрелкой 41">
            <a:extLst>
              <a:ext uri="{FF2B5EF4-FFF2-40B4-BE49-F238E27FC236}">
                <a16:creationId xmlns:a16="http://schemas.microsoft.com/office/drawing/2014/main" id="{C7D5508A-6121-40CC-B31F-ACBFF3C0D235}"/>
              </a:ext>
            </a:extLst>
          </p:cNvPr>
          <p:cNvCxnSpPr>
            <a:cxnSpLocks/>
          </p:cNvCxnSpPr>
          <p:nvPr/>
        </p:nvCxnSpPr>
        <p:spPr>
          <a:xfrm flipV="1">
            <a:off x="3563888" y="2636912"/>
            <a:ext cx="0" cy="144016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Прямая со стрелкой 42">
            <a:extLst>
              <a:ext uri="{FF2B5EF4-FFF2-40B4-BE49-F238E27FC236}">
                <a16:creationId xmlns:a16="http://schemas.microsoft.com/office/drawing/2014/main" id="{A3B14DE2-4B43-4032-B586-63CEAEC81854}"/>
              </a:ext>
            </a:extLst>
          </p:cNvPr>
          <p:cNvCxnSpPr>
            <a:cxnSpLocks/>
          </p:cNvCxnSpPr>
          <p:nvPr/>
        </p:nvCxnSpPr>
        <p:spPr>
          <a:xfrm flipV="1">
            <a:off x="3563888" y="2492896"/>
            <a:ext cx="0" cy="144016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Прямая со стрелкой 43">
            <a:extLst>
              <a:ext uri="{FF2B5EF4-FFF2-40B4-BE49-F238E27FC236}">
                <a16:creationId xmlns:a16="http://schemas.microsoft.com/office/drawing/2014/main" id="{37CEFF33-E18A-4912-9370-26874A5D7329}"/>
              </a:ext>
            </a:extLst>
          </p:cNvPr>
          <p:cNvCxnSpPr>
            <a:cxnSpLocks/>
          </p:cNvCxnSpPr>
          <p:nvPr/>
        </p:nvCxnSpPr>
        <p:spPr>
          <a:xfrm flipV="1">
            <a:off x="3563888" y="2276872"/>
            <a:ext cx="0" cy="144016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Прямая со стрелкой 44">
            <a:extLst>
              <a:ext uri="{FF2B5EF4-FFF2-40B4-BE49-F238E27FC236}">
                <a16:creationId xmlns:a16="http://schemas.microsoft.com/office/drawing/2014/main" id="{890605B3-5E06-4ADB-A015-7A6AF8C596F9}"/>
              </a:ext>
            </a:extLst>
          </p:cNvPr>
          <p:cNvCxnSpPr>
            <a:cxnSpLocks/>
          </p:cNvCxnSpPr>
          <p:nvPr/>
        </p:nvCxnSpPr>
        <p:spPr>
          <a:xfrm flipV="1">
            <a:off x="3563888" y="2132856"/>
            <a:ext cx="0" cy="144016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Прямая со стрелкой 45">
            <a:extLst>
              <a:ext uri="{FF2B5EF4-FFF2-40B4-BE49-F238E27FC236}">
                <a16:creationId xmlns:a16="http://schemas.microsoft.com/office/drawing/2014/main" id="{3E0AF2D7-5216-49E5-A531-658CA9C85D48}"/>
              </a:ext>
            </a:extLst>
          </p:cNvPr>
          <p:cNvCxnSpPr>
            <a:cxnSpLocks/>
          </p:cNvCxnSpPr>
          <p:nvPr/>
        </p:nvCxnSpPr>
        <p:spPr>
          <a:xfrm flipV="1">
            <a:off x="3563888" y="1988840"/>
            <a:ext cx="0" cy="144016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Прямая со стрелкой 46">
            <a:extLst>
              <a:ext uri="{FF2B5EF4-FFF2-40B4-BE49-F238E27FC236}">
                <a16:creationId xmlns:a16="http://schemas.microsoft.com/office/drawing/2014/main" id="{68F4C816-274C-4EBC-BA75-9ADA62FA5BE5}"/>
              </a:ext>
            </a:extLst>
          </p:cNvPr>
          <p:cNvCxnSpPr>
            <a:cxnSpLocks/>
          </p:cNvCxnSpPr>
          <p:nvPr/>
        </p:nvCxnSpPr>
        <p:spPr>
          <a:xfrm flipV="1">
            <a:off x="8100392" y="3356992"/>
            <a:ext cx="0" cy="144016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Прямая со стрелкой 47">
            <a:extLst>
              <a:ext uri="{FF2B5EF4-FFF2-40B4-BE49-F238E27FC236}">
                <a16:creationId xmlns:a16="http://schemas.microsoft.com/office/drawing/2014/main" id="{2078EE9A-D4E8-4697-A402-A093EA63E4F2}"/>
              </a:ext>
            </a:extLst>
          </p:cNvPr>
          <p:cNvCxnSpPr>
            <a:cxnSpLocks/>
          </p:cNvCxnSpPr>
          <p:nvPr/>
        </p:nvCxnSpPr>
        <p:spPr>
          <a:xfrm flipV="1">
            <a:off x="8100392" y="4221088"/>
            <a:ext cx="0" cy="144016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Прямая со стрелкой 48">
            <a:extLst>
              <a:ext uri="{FF2B5EF4-FFF2-40B4-BE49-F238E27FC236}">
                <a16:creationId xmlns:a16="http://schemas.microsoft.com/office/drawing/2014/main" id="{29329FD5-61E1-49FF-B815-4E9B0FCD7C73}"/>
              </a:ext>
            </a:extLst>
          </p:cNvPr>
          <p:cNvCxnSpPr>
            <a:cxnSpLocks/>
          </p:cNvCxnSpPr>
          <p:nvPr/>
        </p:nvCxnSpPr>
        <p:spPr>
          <a:xfrm flipV="1">
            <a:off x="8100392" y="4797152"/>
            <a:ext cx="0" cy="144016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Прямая со стрелкой 49">
            <a:extLst>
              <a:ext uri="{FF2B5EF4-FFF2-40B4-BE49-F238E27FC236}">
                <a16:creationId xmlns:a16="http://schemas.microsoft.com/office/drawing/2014/main" id="{B9D42D19-0562-485C-A702-82F2E57FE005}"/>
              </a:ext>
            </a:extLst>
          </p:cNvPr>
          <p:cNvCxnSpPr>
            <a:cxnSpLocks/>
          </p:cNvCxnSpPr>
          <p:nvPr/>
        </p:nvCxnSpPr>
        <p:spPr>
          <a:xfrm flipV="1">
            <a:off x="8100392" y="4941168"/>
            <a:ext cx="0" cy="144016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Прямоугольник 50">
            <a:extLst>
              <a:ext uri="{FF2B5EF4-FFF2-40B4-BE49-F238E27FC236}">
                <a16:creationId xmlns:a16="http://schemas.microsoft.com/office/drawing/2014/main" id="{9570E9DB-500E-4BA2-A47A-D88FBA5B6B8E}"/>
              </a:ext>
            </a:extLst>
          </p:cNvPr>
          <p:cNvSpPr/>
          <p:nvPr/>
        </p:nvSpPr>
        <p:spPr>
          <a:xfrm>
            <a:off x="3059952" y="5169731"/>
            <a:ext cx="503936" cy="221699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2" name="Прямоугольник 51">
            <a:extLst>
              <a:ext uri="{FF2B5EF4-FFF2-40B4-BE49-F238E27FC236}">
                <a16:creationId xmlns:a16="http://schemas.microsoft.com/office/drawing/2014/main" id="{C753065F-1E41-4E02-9B81-00FB14BD08D6}"/>
              </a:ext>
            </a:extLst>
          </p:cNvPr>
          <p:cNvSpPr/>
          <p:nvPr/>
        </p:nvSpPr>
        <p:spPr>
          <a:xfrm>
            <a:off x="7587975" y="5278249"/>
            <a:ext cx="503936" cy="22169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8965864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43867-4E32-4E2D-8739-58246E7E28D2}" type="slidenum">
              <a:rPr lang="ru-RU" smtClean="0"/>
              <a:t>19</a:t>
            </a:fld>
            <a:endParaRPr lang="ru-RU" dirty="0"/>
          </a:p>
        </p:txBody>
      </p:sp>
      <p:sp>
        <p:nvSpPr>
          <p:cNvPr id="6" name="Заголовок 5">
            <a:extLst>
              <a:ext uri="{FF2B5EF4-FFF2-40B4-BE49-F238E27FC236}">
                <a16:creationId xmlns:a16="http://schemas.microsoft.com/office/drawing/2014/main" id="{8CE17167-FE14-4428-A993-CEBBCEDA41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Log.regression</a:t>
            </a:r>
            <a:endParaRPr lang="ru-RU" dirty="0"/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D5F185BB-EDA8-4C42-BE09-95188BB36E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528" y="1268760"/>
            <a:ext cx="5182323" cy="5087060"/>
          </a:xfrm>
          <a:prstGeom prst="rect">
            <a:avLst/>
          </a:prstGeom>
          <a:ln w="19050">
            <a:solidFill>
              <a:srgbClr val="9F2B22"/>
            </a:solidFill>
          </a:ln>
        </p:spPr>
      </p:pic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A62D7BB0-5940-419E-97F7-3190EEA5A5A4}"/>
              </a:ext>
            </a:extLst>
          </p:cNvPr>
          <p:cNvSpPr/>
          <p:nvPr/>
        </p:nvSpPr>
        <p:spPr>
          <a:xfrm>
            <a:off x="3851920" y="5588385"/>
            <a:ext cx="503936" cy="22169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FF0000"/>
              </a:solidFill>
            </a:endParaRP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A595DF3A-B2E3-41BE-AF05-BD1FE4EB4B0E}"/>
              </a:ext>
            </a:extLst>
          </p:cNvPr>
          <p:cNvSpPr/>
          <p:nvPr/>
        </p:nvSpPr>
        <p:spPr>
          <a:xfrm>
            <a:off x="5596032" y="2492896"/>
            <a:ext cx="3384376" cy="1446550"/>
          </a:xfrm>
          <a:prstGeom prst="rect">
            <a:avLst/>
          </a:prstGeom>
          <a:ln w="19050"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ru-RU" sz="2200" u="sng" dirty="0"/>
              <a:t>Вывод:</a:t>
            </a:r>
            <a:r>
              <a:rPr lang="ru-RU" sz="2200" dirty="0"/>
              <a:t> </a:t>
            </a:r>
          </a:p>
          <a:p>
            <a:pPr algn="ctr"/>
            <a:r>
              <a:rPr lang="ru-RU" sz="2200" dirty="0"/>
              <a:t>Логистическая регрессия плохо конкурирует с ансамблевыми методами.</a:t>
            </a:r>
          </a:p>
        </p:txBody>
      </p:sp>
    </p:spTree>
    <p:extLst>
      <p:ext uri="{BB962C8B-B14F-4D97-AF65-F5344CB8AC3E}">
        <p14:creationId xmlns:p14="http://schemas.microsoft.com/office/powerpoint/2010/main" val="254022767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43867-4E32-4E2D-8739-58246E7E28D2}" type="slidenum">
              <a:rPr lang="ru-RU" smtClean="0"/>
              <a:t>20</a:t>
            </a:fld>
            <a:endParaRPr lang="ru-RU" dirty="0"/>
          </a:p>
        </p:txBody>
      </p:sp>
      <p:sp>
        <p:nvSpPr>
          <p:cNvPr id="6" name="Заголовок 5">
            <a:extLst>
              <a:ext uri="{FF2B5EF4-FFF2-40B4-BE49-F238E27FC236}">
                <a16:creationId xmlns:a16="http://schemas.microsoft.com/office/drawing/2014/main" id="{8CE17167-FE14-4428-A993-CEBBCEDA41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catboost</a:t>
            </a:r>
            <a:endParaRPr lang="ru-RU" dirty="0"/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7764F04E-0F73-4128-9E23-D7C6E9AF248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51720" y="1154504"/>
            <a:ext cx="4861148" cy="5301469"/>
          </a:xfrm>
          <a:prstGeom prst="rect">
            <a:avLst/>
          </a:prstGeom>
          <a:ln w="19050">
            <a:solidFill>
              <a:srgbClr val="9F2B22"/>
            </a:solidFill>
          </a:ln>
        </p:spPr>
      </p:pic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1D71FF33-C1A9-4119-894C-4B71A939B07D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975"/>
          <a:stretch/>
        </p:blipFill>
        <p:spPr>
          <a:xfrm>
            <a:off x="432098" y="1405113"/>
            <a:ext cx="8100392" cy="4745311"/>
          </a:xfrm>
          <a:prstGeom prst="rect">
            <a:avLst/>
          </a:prstGeom>
          <a:ln w="19050">
            <a:solidFill>
              <a:srgbClr val="9F2B22"/>
            </a:solidFill>
          </a:ln>
        </p:spPr>
      </p:pic>
    </p:spTree>
    <p:extLst>
      <p:ext uri="{BB962C8B-B14F-4D97-AF65-F5344CB8AC3E}">
        <p14:creationId xmlns:p14="http://schemas.microsoft.com/office/powerpoint/2010/main" val="355615376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43867-4E32-4E2D-8739-58246E7E28D2}" type="slidenum">
              <a:rPr lang="ru-RU" smtClean="0"/>
              <a:t>21</a:t>
            </a:fld>
            <a:endParaRPr lang="ru-RU" dirty="0"/>
          </a:p>
        </p:txBody>
      </p:sp>
      <p:sp>
        <p:nvSpPr>
          <p:cNvPr id="6" name="Заголовок 5">
            <a:extLst>
              <a:ext uri="{FF2B5EF4-FFF2-40B4-BE49-F238E27FC236}">
                <a16:creationId xmlns:a16="http://schemas.microsoft.com/office/drawing/2014/main" id="{8CE17167-FE14-4428-A993-CEBBCEDA41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Обучение на видеокартах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68F4F91C-A683-414D-9018-700009E2AE2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67805" y="1255426"/>
            <a:ext cx="6208390" cy="3973774"/>
          </a:xfrm>
          <a:prstGeom prst="rect">
            <a:avLst/>
          </a:prstGeom>
          <a:ln w="19050">
            <a:solidFill>
              <a:srgbClr val="9F2B22"/>
            </a:solidFill>
          </a:ln>
        </p:spPr>
      </p:pic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B74DF970-7834-447A-9768-6486665B6A7F}"/>
              </a:ext>
            </a:extLst>
          </p:cNvPr>
          <p:cNvSpPr/>
          <p:nvPr/>
        </p:nvSpPr>
        <p:spPr>
          <a:xfrm>
            <a:off x="293273" y="5311878"/>
            <a:ext cx="8820472" cy="1107996"/>
          </a:xfrm>
          <a:prstGeom prst="rect">
            <a:avLst/>
          </a:prstGeom>
          <a:ln w="19050">
            <a:noFill/>
          </a:ln>
        </p:spPr>
        <p:txBody>
          <a:bodyPr wrap="square">
            <a:spAutoFit/>
          </a:bodyPr>
          <a:lstStyle/>
          <a:p>
            <a:r>
              <a:rPr lang="ru-RU" sz="2200" dirty="0"/>
              <a:t>Из-за большого количества данных процесс обучения тяжеловесных моделей </a:t>
            </a:r>
            <a:r>
              <a:rPr lang="ru-RU" sz="2200" u="sng" dirty="0"/>
              <a:t>на процессоре был медленным</a:t>
            </a:r>
            <a:r>
              <a:rPr lang="ru-RU" sz="2200" dirty="0"/>
              <a:t>, поэтому </a:t>
            </a:r>
            <a:r>
              <a:rPr lang="ru-RU" sz="2200" u="sng" dirty="0"/>
              <a:t>часть моделей запускалась на видеокарте</a:t>
            </a:r>
            <a:r>
              <a:rPr lang="ru-RU" sz="2200" dirty="0"/>
              <a:t> (машина предоставлена СПбГУ).</a:t>
            </a:r>
          </a:p>
        </p:txBody>
      </p:sp>
    </p:spTree>
    <p:extLst>
      <p:ext uri="{BB962C8B-B14F-4D97-AF65-F5344CB8AC3E}">
        <p14:creationId xmlns:p14="http://schemas.microsoft.com/office/powerpoint/2010/main" val="181959739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43867-4E32-4E2D-8739-58246E7E28D2}" type="slidenum">
              <a:rPr lang="ru-RU" smtClean="0"/>
              <a:t>22</a:t>
            </a:fld>
            <a:endParaRPr lang="ru-RU" dirty="0"/>
          </a:p>
        </p:txBody>
      </p:sp>
      <p:sp>
        <p:nvSpPr>
          <p:cNvPr id="6" name="Заголовок 5">
            <a:extLst>
              <a:ext uri="{FF2B5EF4-FFF2-40B4-BE49-F238E27FC236}">
                <a16:creationId xmlns:a16="http://schemas.microsoft.com/office/drawing/2014/main" id="{8CE17167-FE14-4428-A993-CEBBCEDA41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Скрытые цепи маркова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B86D834E-5776-49DF-AE27-656CC405BD70}"/>
              </a:ext>
            </a:extLst>
          </p:cNvPr>
          <p:cNvSpPr/>
          <p:nvPr/>
        </p:nvSpPr>
        <p:spPr>
          <a:xfrm>
            <a:off x="144016" y="1089318"/>
            <a:ext cx="9108504" cy="2123658"/>
          </a:xfrm>
          <a:prstGeom prst="rect">
            <a:avLst/>
          </a:prstGeom>
          <a:ln w="19050">
            <a:noFill/>
          </a:ln>
        </p:spPr>
        <p:txBody>
          <a:bodyPr wrap="square">
            <a:spAutoFit/>
          </a:bodyPr>
          <a:lstStyle/>
          <a:p>
            <a:r>
              <a:rPr lang="ru-RU" sz="2200" dirty="0"/>
              <a:t>Вдохновившись оригинальной статьей, мы решили провести эксперименты с </a:t>
            </a:r>
            <a:r>
              <a:rPr lang="ru-RU" sz="2200" u="sng" dirty="0"/>
              <a:t>HMM</a:t>
            </a:r>
            <a:r>
              <a:rPr lang="ru-RU" sz="2200" dirty="0"/>
              <a:t> и проверить их способность корректировать ошибки, допускаемые базовыми моделями. </a:t>
            </a:r>
          </a:p>
          <a:p>
            <a:r>
              <a:rPr lang="ru-RU" sz="2200" dirty="0"/>
              <a:t>Математически, это реализуется через оптимальное декодирование последовательностей </a:t>
            </a:r>
            <a:r>
              <a:rPr lang="ru-RU" sz="2200" u="sng" dirty="0"/>
              <a:t>с учетом</a:t>
            </a:r>
            <a:r>
              <a:rPr lang="ru-RU" sz="2200" dirty="0"/>
              <a:t> как </a:t>
            </a:r>
            <a:r>
              <a:rPr lang="ru-RU" sz="2200" u="sng" dirty="0"/>
              <a:t>локальных предсказаний</a:t>
            </a:r>
            <a:r>
              <a:rPr lang="ru-RU" sz="2200" dirty="0"/>
              <a:t> (базовая модель), так и глобальных </a:t>
            </a:r>
            <a:r>
              <a:rPr lang="ru-RU" sz="2200" u="sng" dirty="0"/>
              <a:t>временных паттернов</a:t>
            </a:r>
            <a:r>
              <a:rPr lang="ru-RU" sz="2200" dirty="0"/>
              <a:t> (HMM).</a:t>
            </a:r>
          </a:p>
        </p:txBody>
      </p:sp>
      <p:pic>
        <p:nvPicPr>
          <p:cNvPr id="1026" name="Picture 2" descr="undefined">
            <a:extLst>
              <a:ext uri="{FF2B5EF4-FFF2-40B4-BE49-F238E27FC236}">
                <a16:creationId xmlns:a16="http://schemas.microsoft.com/office/drawing/2014/main" id="{B9B73611-09A8-438E-A785-3952390EE0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39752" y="3284984"/>
            <a:ext cx="4172660" cy="3146596"/>
          </a:xfrm>
          <a:prstGeom prst="rect">
            <a:avLst/>
          </a:prstGeom>
          <a:noFill/>
          <a:ln w="19050">
            <a:solidFill>
              <a:srgbClr val="C0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6378886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43867-4E32-4E2D-8739-58246E7E28D2}" type="slidenum">
              <a:rPr lang="ru-RU" smtClean="0"/>
              <a:t>23</a:t>
            </a:fld>
            <a:endParaRPr lang="ru-RU" dirty="0"/>
          </a:p>
        </p:txBody>
      </p:sp>
      <p:sp>
        <p:nvSpPr>
          <p:cNvPr id="6" name="Заголовок 5">
            <a:extLst>
              <a:ext uri="{FF2B5EF4-FFF2-40B4-BE49-F238E27FC236}">
                <a16:creationId xmlns:a16="http://schemas.microsoft.com/office/drawing/2014/main" id="{8CE17167-FE14-4428-A993-CEBBCEDA41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1-ый шаг: Алгоритм баума-велша</a:t>
            </a:r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005FDC63-C5FC-47B1-841E-C702CEAEC122}"/>
              </a:ext>
            </a:extLst>
          </p:cNvPr>
          <p:cNvSpPr/>
          <p:nvPr/>
        </p:nvSpPr>
        <p:spPr>
          <a:xfrm>
            <a:off x="217858" y="1124744"/>
            <a:ext cx="8424936" cy="1708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ru-RU" sz="2000" u="sng" dirty="0"/>
              <a:t>Идея:</a:t>
            </a:r>
            <a:r>
              <a:rPr lang="ru-RU" sz="2000" dirty="0"/>
              <a:t> </a:t>
            </a:r>
            <a:r>
              <a:rPr lang="en-US" sz="2000" dirty="0"/>
              <a:t>EM-</a:t>
            </a:r>
            <a:r>
              <a:rPr lang="ru-RU" sz="2000" dirty="0"/>
              <a:t>алгоритм для </a:t>
            </a:r>
            <a:r>
              <a:rPr lang="en-US" sz="2000" dirty="0"/>
              <a:t>HMM, </a:t>
            </a:r>
            <a:r>
              <a:rPr lang="ru-RU" sz="2000" dirty="0"/>
              <a:t>который обучает параметры </a:t>
            </a:r>
            <a:r>
              <a:rPr lang="el-GR" sz="2000" dirty="0"/>
              <a:t>(</a:t>
            </a:r>
            <a:r>
              <a:rPr lang="en-US" sz="2000" i="1" dirty="0"/>
              <a:t>A</a:t>
            </a:r>
            <a:r>
              <a:rPr lang="en-US" sz="2000" dirty="0"/>
              <a:t>,</a:t>
            </a:r>
            <a:r>
              <a:rPr lang="en-US" sz="2000" i="1" dirty="0"/>
              <a:t>B</a:t>
            </a:r>
            <a:r>
              <a:rPr lang="en-US" sz="2000" dirty="0"/>
              <a:t>,</a:t>
            </a:r>
            <a:r>
              <a:rPr lang="el-GR" sz="2000" i="1" dirty="0"/>
              <a:t>π</a:t>
            </a:r>
            <a:r>
              <a:rPr lang="el-GR" sz="2000" dirty="0"/>
              <a:t>) </a:t>
            </a:r>
            <a:r>
              <a:rPr lang="ru-RU" sz="2000" dirty="0"/>
              <a:t>на основе наблюдений </a:t>
            </a:r>
            <a:r>
              <a:rPr lang="en-US" sz="2000" i="1" dirty="0"/>
              <a:t>O</a:t>
            </a:r>
            <a:r>
              <a:rPr lang="en-US" sz="2000" dirty="0"/>
              <a:t>, </a:t>
            </a:r>
            <a:r>
              <a:rPr lang="ru-RU" sz="2000" dirty="0"/>
              <a:t>чередуя:</a:t>
            </a:r>
          </a:p>
          <a:p>
            <a:pPr>
              <a:buFont typeface="+mj-lt"/>
              <a:buAutoNum type="arabicPeriod"/>
            </a:pPr>
            <a:r>
              <a:rPr lang="en-US" sz="2000" u="sng" dirty="0"/>
              <a:t>E-</a:t>
            </a:r>
            <a:r>
              <a:rPr lang="ru-RU" sz="2000" u="sng" dirty="0"/>
              <a:t>шаг:</a:t>
            </a:r>
            <a:r>
              <a:rPr lang="ru-RU" sz="2000" dirty="0"/>
              <a:t> Оценку скрытых состояний через </a:t>
            </a:r>
            <a:r>
              <a:rPr lang="en-US" sz="2000" dirty="0"/>
              <a:t>forward-backward </a:t>
            </a:r>
            <a:r>
              <a:rPr lang="ru-RU" sz="2000" dirty="0"/>
              <a:t>переменные (</a:t>
            </a:r>
            <a:r>
              <a:rPr lang="el-GR" sz="2000" dirty="0"/>
              <a:t>α</a:t>
            </a:r>
            <a:r>
              <a:rPr lang="en-US" sz="2000" dirty="0"/>
              <a:t>(i), </a:t>
            </a:r>
            <a:r>
              <a:rPr lang="el-GR" sz="2000" dirty="0"/>
              <a:t>β</a:t>
            </a:r>
            <a:r>
              <a:rPr lang="en-US" sz="2000" dirty="0"/>
              <a:t>(i)).</a:t>
            </a:r>
          </a:p>
          <a:p>
            <a:pPr>
              <a:buFont typeface="+mj-lt"/>
              <a:buAutoNum type="arabicPeriod"/>
            </a:pPr>
            <a:r>
              <a:rPr lang="en-US" sz="2000" u="sng" dirty="0"/>
              <a:t>M-</a:t>
            </a:r>
            <a:r>
              <a:rPr lang="ru-RU" sz="2000" u="sng" dirty="0"/>
              <a:t>шаг:</a:t>
            </a:r>
            <a:r>
              <a:rPr lang="ru-RU" sz="2000" dirty="0"/>
              <a:t> Пересчёт параметров, максимизируя правдоподобие.</a:t>
            </a: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CB782904-E400-4ED6-A8E3-96D50E3A56C7}"/>
              </a:ext>
            </a:extLst>
          </p:cNvPr>
          <p:cNvSpPr/>
          <p:nvPr/>
        </p:nvSpPr>
        <p:spPr>
          <a:xfrm>
            <a:off x="201229" y="2949862"/>
            <a:ext cx="7200800" cy="37240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000" u="sng" dirty="0"/>
              <a:t>Ключевые формулы:</a:t>
            </a:r>
          </a:p>
          <a:p>
            <a:endParaRPr lang="ru-RU" sz="500" dirty="0"/>
          </a:p>
          <a:p>
            <a:endParaRPr lang="ru-RU" sz="800" dirty="0"/>
          </a:p>
          <a:p>
            <a:r>
              <a:rPr lang="en-US" sz="2000" dirty="0"/>
              <a:t>Forward (</a:t>
            </a:r>
            <a:r>
              <a:rPr lang="el-GR" sz="2000" dirty="0"/>
              <a:t>α):</a:t>
            </a:r>
          </a:p>
          <a:p>
            <a:endParaRPr lang="ru-RU" sz="2000" dirty="0"/>
          </a:p>
          <a:p>
            <a:endParaRPr lang="en-US" sz="2000" dirty="0"/>
          </a:p>
          <a:p>
            <a:r>
              <a:rPr lang="en-US" sz="2000" dirty="0"/>
              <a:t>Backward (</a:t>
            </a:r>
            <a:r>
              <a:rPr lang="el-GR" sz="2000" dirty="0"/>
              <a:t>β):</a:t>
            </a:r>
          </a:p>
          <a:p>
            <a:endParaRPr lang="en-US" sz="2000" dirty="0"/>
          </a:p>
          <a:p>
            <a:endParaRPr lang="ru-RU" sz="1000" dirty="0"/>
          </a:p>
          <a:p>
            <a:r>
              <a:rPr lang="ru-RU" sz="2000" dirty="0"/>
              <a:t>Переоценка параметров:</a:t>
            </a:r>
          </a:p>
          <a:p>
            <a:endParaRPr lang="en-US" sz="2000" dirty="0"/>
          </a:p>
          <a:p>
            <a:endParaRPr lang="ru-RU" sz="2000" dirty="0"/>
          </a:p>
          <a:p>
            <a:endParaRPr lang="ru-RU" sz="900" dirty="0"/>
          </a:p>
          <a:p>
            <a:r>
              <a:rPr lang="ru-RU" sz="2000" u="sng" dirty="0"/>
              <a:t>Итог</a:t>
            </a:r>
            <a:r>
              <a:rPr lang="ru-RU" sz="2000" dirty="0"/>
              <a:t>: Оптимизирует </a:t>
            </a:r>
            <a:r>
              <a:rPr lang="en-US" sz="2000" dirty="0"/>
              <a:t>A, B, </a:t>
            </a:r>
            <a:r>
              <a:rPr lang="el-GR" sz="2000" dirty="0"/>
              <a:t>π </a:t>
            </a:r>
            <a:r>
              <a:rPr lang="ru-RU" sz="2000" dirty="0"/>
              <a:t>для максимизации </a:t>
            </a:r>
            <a:r>
              <a:rPr lang="en-US" sz="2000" dirty="0"/>
              <a:t>P(O∣</a:t>
            </a:r>
            <a:r>
              <a:rPr lang="el-GR" sz="2000" dirty="0"/>
              <a:t>λ).</a:t>
            </a:r>
            <a:endParaRPr lang="el-GR" sz="2000" dirty="0">
              <a:effectLst/>
            </a:endParaRP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9628A153-9734-4710-BC78-D9E0A9883093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446433" y="3204955"/>
            <a:ext cx="3656794" cy="960043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CFA638F2-1520-42FF-B5E0-F930D3F93843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619672" y="4104342"/>
            <a:ext cx="3580090" cy="876757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FB93EE0D-5574-4039-BFE8-37B9A8627502}"/>
              </a:ext>
            </a:extLst>
          </p:cNvPr>
          <p:cNvPicPr>
            <a:picLocks noChangeAspect="1"/>
          </p:cNvPicPr>
          <p:nvPr/>
        </p:nvPicPr>
        <p:blipFill>
          <a:blip r:embed="rId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915816" y="4859702"/>
            <a:ext cx="5264406" cy="960042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C6E2138A-987D-40C4-B9E1-D4E2B6A46993}"/>
              </a:ext>
            </a:extLst>
          </p:cNvPr>
          <p:cNvPicPr>
            <a:picLocks noChangeAspect="1"/>
          </p:cNvPicPr>
          <p:nvPr/>
        </p:nvPicPr>
        <p:blipFill>
          <a:blip r:embed="rId8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609056" y="5679437"/>
            <a:ext cx="2427348" cy="5769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289934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43867-4E32-4E2D-8739-58246E7E28D2}" type="slidenum">
              <a:rPr lang="ru-RU" smtClean="0"/>
              <a:t>24</a:t>
            </a:fld>
            <a:endParaRPr lang="ru-RU" dirty="0"/>
          </a:p>
        </p:txBody>
      </p:sp>
      <p:sp>
        <p:nvSpPr>
          <p:cNvPr id="6" name="Заголовок 5">
            <a:extLst>
              <a:ext uri="{FF2B5EF4-FFF2-40B4-BE49-F238E27FC236}">
                <a16:creationId xmlns:a16="http://schemas.microsoft.com/office/drawing/2014/main" id="{8CE17167-FE14-4428-A993-CEBBCEDA41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2-ой шаг: алгоритм витерби</a:t>
            </a:r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2F584A98-B459-4EC3-BAA8-FC64AFC3DD4F}"/>
              </a:ext>
            </a:extLst>
          </p:cNvPr>
          <p:cNvSpPr/>
          <p:nvPr/>
        </p:nvSpPr>
        <p:spPr>
          <a:xfrm>
            <a:off x="180569" y="1164134"/>
            <a:ext cx="8892480" cy="50783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000" u="sng" dirty="0"/>
              <a:t>Идея:</a:t>
            </a:r>
            <a:r>
              <a:rPr lang="ru-RU" sz="2000" dirty="0"/>
              <a:t> Динамическое программирование для нахождения наиболее вероятной последовательности скрытых состояний </a:t>
            </a:r>
            <a:r>
              <a:rPr lang="en-US" sz="2000" dirty="0"/>
              <a:t>Q∗=(q1,…,qT)</a:t>
            </a:r>
            <a:r>
              <a:rPr lang="ru-RU" sz="2000" dirty="0"/>
              <a:t> по наблюдениям </a:t>
            </a:r>
            <a:r>
              <a:rPr lang="en-US" sz="2000" dirty="0"/>
              <a:t>O </a:t>
            </a:r>
            <a:r>
              <a:rPr lang="ru-RU" sz="2000" dirty="0"/>
              <a:t>и обученной </a:t>
            </a:r>
            <a:r>
              <a:rPr lang="en-US" sz="2000" dirty="0"/>
              <a:t>HMM.</a:t>
            </a:r>
            <a:endParaRPr lang="ru-RU" sz="2000" dirty="0"/>
          </a:p>
          <a:p>
            <a:endParaRPr lang="en-US" sz="500" dirty="0"/>
          </a:p>
          <a:p>
            <a:r>
              <a:rPr lang="ru-RU" sz="2000" u="sng" dirty="0"/>
              <a:t>Ключевые формулы:</a:t>
            </a:r>
          </a:p>
          <a:p>
            <a:endParaRPr lang="ru-RU" sz="2000" u="sng" dirty="0"/>
          </a:p>
          <a:p>
            <a:endParaRPr lang="ru-RU" sz="300" u="sng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000" dirty="0"/>
              <a:t>Инициализация:</a:t>
            </a:r>
          </a:p>
          <a:p>
            <a:endParaRPr lang="ru-RU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000" dirty="0"/>
              <a:t>Рекурсия:</a:t>
            </a:r>
          </a:p>
          <a:p>
            <a:endParaRPr lang="ru-RU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000" dirty="0"/>
              <a:t>Завершение:</a:t>
            </a:r>
          </a:p>
          <a:p>
            <a:endParaRPr lang="ru-RU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000" dirty="0"/>
              <a:t>Обратный ход:</a:t>
            </a:r>
          </a:p>
          <a:p>
            <a:endParaRPr lang="ru-RU" sz="2000" dirty="0"/>
          </a:p>
          <a:p>
            <a:r>
              <a:rPr lang="ru-RU" sz="2000" u="sng" dirty="0"/>
              <a:t>Итог</a:t>
            </a:r>
            <a:r>
              <a:rPr lang="ru-RU" sz="2000" dirty="0"/>
              <a:t>: Возвращает оптимальный путь </a:t>
            </a:r>
            <a:r>
              <a:rPr lang="en-US" sz="2000" dirty="0"/>
              <a:t>Q∗, </a:t>
            </a:r>
            <a:r>
              <a:rPr lang="ru-RU" sz="2000" dirty="0"/>
              <a:t>учитывая переходы (</a:t>
            </a:r>
            <a:r>
              <a:rPr lang="en-US" sz="2000" i="1" dirty="0"/>
              <a:t>A</a:t>
            </a:r>
            <a:r>
              <a:rPr lang="en-US" sz="2000" dirty="0"/>
              <a:t>) </a:t>
            </a:r>
            <a:r>
              <a:rPr lang="ru-RU" sz="2000" dirty="0"/>
              <a:t>и эмиссии (</a:t>
            </a:r>
            <a:r>
              <a:rPr lang="en-US" sz="2000" i="1" dirty="0"/>
              <a:t>B</a:t>
            </a:r>
            <a:r>
              <a:rPr lang="en-US" sz="2000" dirty="0"/>
              <a:t>).</a:t>
            </a:r>
          </a:p>
          <a:p>
            <a:br>
              <a:rPr lang="en-US" dirty="0">
                <a:solidFill>
                  <a:srgbClr val="4D6BFE"/>
                </a:solidFill>
              </a:rPr>
            </a:br>
            <a:endParaRPr lang="ru-RU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AE4BC752-D69F-4B1D-8C89-6FCD2D089509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494949" y="2764470"/>
            <a:ext cx="3474396" cy="511901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24A34755-AB68-44A2-8B43-C4A2CBFB16CF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619672" y="3346476"/>
            <a:ext cx="7004270" cy="589044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CB223072-6EAC-43E8-9444-C1075060E9EC}"/>
              </a:ext>
            </a:extLst>
          </p:cNvPr>
          <p:cNvPicPr>
            <a:picLocks noChangeAspect="1"/>
          </p:cNvPicPr>
          <p:nvPr/>
        </p:nvPicPr>
        <p:blipFill>
          <a:blip r:embed="rId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984796" y="3991765"/>
            <a:ext cx="4819452" cy="589044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99BB91DE-C95E-41FF-A0D3-E1639AE802B1}"/>
              </a:ext>
            </a:extLst>
          </p:cNvPr>
          <p:cNvPicPr>
            <a:picLocks noChangeAspect="1"/>
          </p:cNvPicPr>
          <p:nvPr/>
        </p:nvPicPr>
        <p:blipFill>
          <a:blip r:embed="rId8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104520" y="4562815"/>
            <a:ext cx="4824536" cy="6448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32570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43867-4E32-4E2D-8739-58246E7E28D2}" type="slidenum">
              <a:rPr lang="ru-RU" smtClean="0"/>
              <a:t>25</a:t>
            </a:fld>
            <a:endParaRPr lang="ru-RU" dirty="0"/>
          </a:p>
        </p:txBody>
      </p:sp>
      <p:sp>
        <p:nvSpPr>
          <p:cNvPr id="6" name="Заголовок 5">
            <a:extLst>
              <a:ext uri="{FF2B5EF4-FFF2-40B4-BE49-F238E27FC236}">
                <a16:creationId xmlns:a16="http://schemas.microsoft.com/office/drawing/2014/main" id="{8CE17167-FE14-4428-A993-CEBBCEDA41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Результаты: </a:t>
            </a:r>
            <a:r>
              <a:rPr lang="en-US" dirty="0"/>
              <a:t>xgboost + HMM</a:t>
            </a:r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59D88792-11D7-4B7C-82FA-40986578B8F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44008" y="1124744"/>
            <a:ext cx="4252208" cy="4813207"/>
          </a:xfrm>
          <a:prstGeom prst="rect">
            <a:avLst/>
          </a:prstGeom>
          <a:ln w="19050">
            <a:solidFill>
              <a:srgbClr val="9F2B22"/>
            </a:solidFill>
          </a:ln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8535665B-E22A-4A6C-BEA8-89966069094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512" y="1124744"/>
            <a:ext cx="4301504" cy="4813207"/>
          </a:xfrm>
          <a:prstGeom prst="rect">
            <a:avLst/>
          </a:prstGeom>
          <a:ln w="19050">
            <a:solidFill>
              <a:srgbClr val="9F2B22"/>
            </a:solidFill>
          </a:ln>
        </p:spPr>
      </p:pic>
      <p:cxnSp>
        <p:nvCxnSpPr>
          <p:cNvPr id="10" name="Прямая соединительная линия 9">
            <a:extLst>
              <a:ext uri="{FF2B5EF4-FFF2-40B4-BE49-F238E27FC236}">
                <a16:creationId xmlns:a16="http://schemas.microsoft.com/office/drawing/2014/main" id="{364937C9-859C-4B5D-917A-3F7B116D0A44}"/>
              </a:ext>
            </a:extLst>
          </p:cNvPr>
          <p:cNvCxnSpPr>
            <a:cxnSpLocks/>
          </p:cNvCxnSpPr>
          <p:nvPr/>
        </p:nvCxnSpPr>
        <p:spPr>
          <a:xfrm flipH="1">
            <a:off x="3131840" y="3789040"/>
            <a:ext cx="504056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Прямая соединительная линия 14">
            <a:extLst>
              <a:ext uri="{FF2B5EF4-FFF2-40B4-BE49-F238E27FC236}">
                <a16:creationId xmlns:a16="http://schemas.microsoft.com/office/drawing/2014/main" id="{397A13DF-3D7E-4B71-87F2-E275A30FD4D4}"/>
              </a:ext>
            </a:extLst>
          </p:cNvPr>
          <p:cNvCxnSpPr>
            <a:cxnSpLocks/>
          </p:cNvCxnSpPr>
          <p:nvPr/>
        </p:nvCxnSpPr>
        <p:spPr>
          <a:xfrm flipH="1">
            <a:off x="7619020" y="3789040"/>
            <a:ext cx="504056" cy="0"/>
          </a:xfrm>
          <a:prstGeom prst="line">
            <a:avLst/>
          </a:prstGeom>
          <a:ln w="28575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FA0071D6-CEB8-4897-8FF0-FB416EDA1C84}"/>
              </a:ext>
            </a:extLst>
          </p:cNvPr>
          <p:cNvSpPr/>
          <p:nvPr/>
        </p:nvSpPr>
        <p:spPr>
          <a:xfrm>
            <a:off x="242785" y="6081967"/>
            <a:ext cx="3765967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000" u="sng" dirty="0"/>
              <a:t>Вывод</a:t>
            </a:r>
            <a:r>
              <a:rPr lang="ru-RU" sz="2000" dirty="0"/>
              <a:t>: Видимых улучшений нет.</a:t>
            </a:r>
          </a:p>
        </p:txBody>
      </p:sp>
    </p:spTree>
    <p:extLst>
      <p:ext uri="{BB962C8B-B14F-4D97-AF65-F5344CB8AC3E}">
        <p14:creationId xmlns:p14="http://schemas.microsoft.com/office/powerpoint/2010/main" val="68787682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43867-4E32-4E2D-8739-58246E7E28D2}" type="slidenum">
              <a:rPr lang="ru-RU" smtClean="0"/>
              <a:t>26</a:t>
            </a:fld>
            <a:endParaRPr lang="ru-RU" dirty="0"/>
          </a:p>
        </p:txBody>
      </p:sp>
      <p:sp>
        <p:nvSpPr>
          <p:cNvPr id="6" name="Заголовок 5">
            <a:extLst>
              <a:ext uri="{FF2B5EF4-FFF2-40B4-BE49-F238E27FC236}">
                <a16:creationId xmlns:a16="http://schemas.microsoft.com/office/drawing/2014/main" id="{8CE17167-FE14-4428-A993-CEBBCEDA41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выводы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BE88D476-32C9-4550-9378-606872109802}"/>
              </a:ext>
            </a:extLst>
          </p:cNvPr>
          <p:cNvSpPr/>
          <p:nvPr/>
        </p:nvSpPr>
        <p:spPr>
          <a:xfrm>
            <a:off x="251520" y="1700808"/>
            <a:ext cx="8496944" cy="3939540"/>
          </a:xfrm>
          <a:prstGeom prst="rect">
            <a:avLst/>
          </a:prstGeom>
          <a:ln w="19050">
            <a:noFill/>
          </a:ln>
        </p:spPr>
        <p:txBody>
          <a:bodyPr wrap="square">
            <a:spAutoFit/>
          </a:bodyPr>
          <a:lstStyle/>
          <a:p>
            <a:pPr marL="342900" indent="-342900">
              <a:spcAft>
                <a:spcPts val="1200"/>
              </a:spcAft>
              <a:buFont typeface="Wingdings" panose="05000000000000000000" pitchFamily="2" charset="2"/>
              <a:buChar char="ü"/>
            </a:pPr>
            <a:r>
              <a:rPr lang="ru-RU" sz="2200" u="sng" dirty="0"/>
              <a:t>Проведен анализ</a:t>
            </a:r>
            <a:r>
              <a:rPr lang="ru-RU" sz="2200" dirty="0"/>
              <a:t> выбранного датасета с последующей </a:t>
            </a:r>
            <a:r>
              <a:rPr lang="ru-RU" sz="2200" u="sng" dirty="0"/>
              <a:t>предобработкой данных</a:t>
            </a:r>
            <a:r>
              <a:rPr lang="ru-RU" sz="2200" dirty="0"/>
              <a:t>: заполнение пропусков, скалирование, </a:t>
            </a:r>
            <a:r>
              <a:rPr lang="en-US" sz="2200" dirty="0"/>
              <a:t>feature engineering. </a:t>
            </a:r>
            <a:endParaRPr lang="ru-RU" sz="2200" dirty="0"/>
          </a:p>
          <a:p>
            <a:pPr marL="342900" indent="-342900">
              <a:spcAft>
                <a:spcPts val="1200"/>
              </a:spcAft>
              <a:buFont typeface="Wingdings" panose="05000000000000000000" pitchFamily="2" charset="2"/>
              <a:buChar char="ü"/>
            </a:pPr>
            <a:r>
              <a:rPr lang="ru-RU" sz="2200" u="sng" dirty="0"/>
              <a:t>Исследованы</a:t>
            </a:r>
            <a:r>
              <a:rPr lang="ru-RU" sz="2200" dirty="0"/>
              <a:t> разные </a:t>
            </a:r>
            <a:r>
              <a:rPr lang="ru-RU" sz="2200" u="sng" dirty="0"/>
              <a:t>способы разделения датасета</a:t>
            </a:r>
            <a:r>
              <a:rPr lang="ru-RU" sz="2200" dirty="0"/>
              <a:t> для обучения. </a:t>
            </a:r>
          </a:p>
          <a:p>
            <a:pPr marL="342900" indent="-342900">
              <a:spcAft>
                <a:spcPts val="1200"/>
              </a:spcAft>
              <a:buFont typeface="Wingdings" panose="05000000000000000000" pitchFamily="2" charset="2"/>
              <a:buChar char="ü"/>
            </a:pPr>
            <a:r>
              <a:rPr lang="ru-RU" sz="2200" u="sng" dirty="0"/>
              <a:t>Рассмотрены базовые модели </a:t>
            </a:r>
            <a:r>
              <a:rPr lang="en-US" sz="2200" u="sng" dirty="0"/>
              <a:t>ML</a:t>
            </a:r>
            <a:r>
              <a:rPr lang="ru-RU" sz="2200" u="sng" dirty="0"/>
              <a:t> и ансамблевые методы</a:t>
            </a:r>
            <a:r>
              <a:rPr lang="ru-RU" sz="2200" dirty="0"/>
              <a:t> для предсказания целевой переменной (в том числе получен опыт </a:t>
            </a:r>
            <a:r>
              <a:rPr lang="ru-RU" sz="2200" u="sng" dirty="0"/>
              <a:t>запуска</a:t>
            </a:r>
            <a:r>
              <a:rPr lang="ru-RU" sz="2200" dirty="0"/>
              <a:t> моделей </a:t>
            </a:r>
            <a:r>
              <a:rPr lang="ru-RU" sz="2200" u="sng" dirty="0"/>
              <a:t>на видеокарте</a:t>
            </a:r>
            <a:r>
              <a:rPr lang="ru-RU" sz="2200" dirty="0"/>
              <a:t>). </a:t>
            </a:r>
          </a:p>
          <a:p>
            <a:pPr marL="342900" indent="-342900">
              <a:spcAft>
                <a:spcPts val="1200"/>
              </a:spcAft>
              <a:buFont typeface="Wingdings" panose="05000000000000000000" pitchFamily="2" charset="2"/>
              <a:buChar char="ü"/>
            </a:pPr>
            <a:r>
              <a:rPr lang="ru-RU" sz="2200" u="sng" dirty="0"/>
              <a:t>Изучено использование скрытых марковских цепей</a:t>
            </a:r>
            <a:r>
              <a:rPr lang="ru-RU" sz="2200" dirty="0"/>
              <a:t> в задачах анализа временных рядов и предпринята </a:t>
            </a:r>
            <a:r>
              <a:rPr lang="ru-RU" sz="2200" u="sng" dirty="0"/>
              <a:t>попытка улучшения результатов</a:t>
            </a:r>
            <a:r>
              <a:rPr lang="ru-RU" sz="2200" dirty="0"/>
              <a:t> при их использовании на нашем датасете.</a:t>
            </a:r>
          </a:p>
        </p:txBody>
      </p:sp>
    </p:spTree>
    <p:extLst>
      <p:ext uri="{BB962C8B-B14F-4D97-AF65-F5344CB8AC3E}">
        <p14:creationId xmlns:p14="http://schemas.microsoft.com/office/powerpoint/2010/main" val="280828257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39824C5-81EF-4529-BFAC-36F197FE7AE6}"/>
              </a:ext>
            </a:extLst>
          </p:cNvPr>
          <p:cNvSpPr txBox="1">
            <a:spLocks/>
          </p:cNvSpPr>
          <p:nvPr/>
        </p:nvSpPr>
        <p:spPr>
          <a:xfrm>
            <a:off x="685800" y="2130425"/>
            <a:ext cx="7990656" cy="1470025"/>
          </a:xfrm>
          <a:prstGeom prst="rect">
            <a:avLst/>
          </a:prstGeom>
        </p:spPr>
        <p:txBody>
          <a:bodyPr>
            <a:normAutofit fontScale="975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ru-RU" dirty="0">
                <a:solidFill>
                  <a:schemeClr val="bg1"/>
                </a:solidFill>
              </a:rPr>
              <a:t>СПАСИБО ЗА ВНИМАНИЕ</a:t>
            </a:r>
            <a:r>
              <a:rPr lang="en-US" dirty="0">
                <a:solidFill>
                  <a:schemeClr val="bg1"/>
                </a:solidFill>
              </a:rPr>
              <a:t>!</a:t>
            </a:r>
            <a:endParaRPr lang="ru-RU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3006164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1776</TotalTime>
  <Words>934</Words>
  <Application>Microsoft Office PowerPoint</Application>
  <PresentationFormat>Экран (4:3)</PresentationFormat>
  <Paragraphs>137</Paragraphs>
  <Slides>27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27</vt:i4>
      </vt:variant>
    </vt:vector>
  </HeadingPairs>
  <TitlesOfParts>
    <vt:vector size="31" baseType="lpstr">
      <vt:lpstr>Arial</vt:lpstr>
      <vt:lpstr>Calibri</vt:lpstr>
      <vt:lpstr>Wingdings</vt:lpstr>
      <vt:lpstr>Тема Office</vt:lpstr>
      <vt:lpstr>Классификация физической активности по данным с IMU датчиков</vt:lpstr>
      <vt:lpstr>Описание датасета</vt:lpstr>
      <vt:lpstr>Цель проекта</vt:lpstr>
      <vt:lpstr>актуальность</vt:lpstr>
      <vt:lpstr>Начальные сведения о датасете</vt:lpstr>
      <vt:lpstr>Выделенные особенности датасета</vt:lpstr>
      <vt:lpstr>Предобработка на основе описания данных</vt:lpstr>
      <vt:lpstr>Заполнение пропусков</vt:lpstr>
      <vt:lpstr>EDA (Разведочный анализ данных)</vt:lpstr>
      <vt:lpstr>Распределение целевой переменной</vt:lpstr>
      <vt:lpstr>Распределение по участникам эксперимента</vt:lpstr>
      <vt:lpstr>Разница показателей (на примере акселерометра)</vt:lpstr>
      <vt:lpstr>Бокс-плоты по признакам с высокой дисперсией</vt:lpstr>
      <vt:lpstr>Feature Engineering</vt:lpstr>
      <vt:lpstr>Разделение на train и test</vt:lpstr>
      <vt:lpstr>Эволюция методов разделения</vt:lpstr>
      <vt:lpstr>Методика проведения обучения</vt:lpstr>
      <vt:lpstr>XGB classifier и random forest</vt:lpstr>
      <vt:lpstr>Log.regression</vt:lpstr>
      <vt:lpstr>catboost</vt:lpstr>
      <vt:lpstr>Обучение на видеокартах</vt:lpstr>
      <vt:lpstr>Скрытые цепи маркова</vt:lpstr>
      <vt:lpstr>1-ый шаг: Алгоритм баума-велша</vt:lpstr>
      <vt:lpstr>2-ой шаг: алгоритм витерби</vt:lpstr>
      <vt:lpstr>Результаты: xgboost + HMM</vt:lpstr>
      <vt:lpstr>выводы</vt:lpstr>
      <vt:lpstr>Презентация PowerPoint</vt:lpstr>
    </vt:vector>
  </TitlesOfParts>
  <Company>Hewlett-Packard Company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Баранова Ольга Владимировна</dc:creator>
  <cp:lastModifiedBy>Abarafanov</cp:lastModifiedBy>
  <cp:revision>243</cp:revision>
  <dcterms:created xsi:type="dcterms:W3CDTF">2015-06-09T11:05:16Z</dcterms:created>
  <dcterms:modified xsi:type="dcterms:W3CDTF">2025-06-06T20:16:26Z</dcterms:modified>
</cp:coreProperties>
</file>